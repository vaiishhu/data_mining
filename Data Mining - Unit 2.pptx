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y="6858000" cx="12192000"/>
  <p:notesSz cx="6858000" cy="9144000"/>
  <p:embeddedFontLst>
    <p:embeddedFont>
      <p:font typeface="Urbanist Light"/>
      <p:regular r:id="rId18"/>
      <p:bold r:id="rId19"/>
      <p:italic r:id="rId20"/>
      <p:boldItalic r:id="rId21"/>
    </p:embeddedFont>
    <p:embeddedFont>
      <p:font typeface="Urbanist Medium"/>
      <p:regular r:id="rId22"/>
      <p:bold r:id="rId23"/>
      <p:italic r:id="rId24"/>
      <p:boldItalic r:id="rId25"/>
    </p:embeddedFont>
    <p:embeddedFont>
      <p:font typeface="Urbanist SemiBold"/>
      <p:regular r:id="rId26"/>
      <p:bold r:id="rId27"/>
      <p:italic r:id="rId28"/>
      <p:boldItalic r:id="rId29"/>
    </p:embeddedFont>
    <p:embeddedFont>
      <p:font typeface="Urbanist"/>
      <p:regular r:id="rId30"/>
      <p:bold r:id="rId31"/>
      <p:italic r:id="rId32"/>
      <p:boldItalic r:id="rId3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FB9F2154-7A7A-4B86-90E5-58BCF263183A}">
  <a:tblStyle styleId="{FB9F2154-7A7A-4B86-90E5-58BCF263183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Light-italic.fntdata"/><Relationship Id="rId22" Type="http://schemas.openxmlformats.org/officeDocument/2006/relationships/font" Target="fonts/UrbanistMedium-regular.fntdata"/><Relationship Id="rId21" Type="http://schemas.openxmlformats.org/officeDocument/2006/relationships/font" Target="fonts/UrbanistLight-boldItalic.fntdata"/><Relationship Id="rId24" Type="http://schemas.openxmlformats.org/officeDocument/2006/relationships/font" Target="fonts/UrbanistMedium-italic.fntdata"/><Relationship Id="rId23" Type="http://schemas.openxmlformats.org/officeDocument/2006/relationships/font" Target="fonts/UrbanistMedium-bold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UrbanistSemiBold-regular.fntdata"/><Relationship Id="rId25" Type="http://schemas.openxmlformats.org/officeDocument/2006/relationships/font" Target="fonts/UrbanistMedium-boldItalic.fntdata"/><Relationship Id="rId28" Type="http://schemas.openxmlformats.org/officeDocument/2006/relationships/font" Target="fonts/UrbanistSemiBold-italic.fntdata"/><Relationship Id="rId27" Type="http://schemas.openxmlformats.org/officeDocument/2006/relationships/font" Target="fonts/UrbanistSemiBold-bold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UrbanistSemiBold-bold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Urbanist-bold.fntdata"/><Relationship Id="rId30" Type="http://schemas.openxmlformats.org/officeDocument/2006/relationships/font" Target="fonts/Urbanist-regular.fntdata"/><Relationship Id="rId11" Type="http://schemas.openxmlformats.org/officeDocument/2006/relationships/slide" Target="slides/slide5.xml"/><Relationship Id="rId33" Type="http://schemas.openxmlformats.org/officeDocument/2006/relationships/font" Target="fonts/Urbanist-boldItalic.fntdata"/><Relationship Id="rId10" Type="http://schemas.openxmlformats.org/officeDocument/2006/relationships/slide" Target="slides/slide4.xml"/><Relationship Id="rId32" Type="http://schemas.openxmlformats.org/officeDocument/2006/relationships/font" Target="fonts/Urbanist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font" Target="fonts/UrbanistLight-bold.fntdata"/><Relationship Id="rId18" Type="http://schemas.openxmlformats.org/officeDocument/2006/relationships/font" Target="fonts/UrbanistLigh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1" name="Google Shape;14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8" name="Google Shape;158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1" name="Google Shape;22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3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5.png"/><Relationship Id="rId4" Type="http://schemas.openxmlformats.org/officeDocument/2006/relationships/image" Target="../media/image1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5.png"/></Relationships>
</file>

<file path=ppt/slides/_rels/slide3.xml.rels><?xml version="1.0" encoding="UTF-8" standalone="yes"?><Relationships xmlns="http://schemas.openxmlformats.org/package/2006/relationships"><Relationship Id="rId11" Type="http://schemas.openxmlformats.org/officeDocument/2006/relationships/image" Target="../media/image34.png"/><Relationship Id="rId10" Type="http://schemas.openxmlformats.org/officeDocument/2006/relationships/image" Target="../media/image28.png"/><Relationship Id="rId13" Type="http://schemas.openxmlformats.org/officeDocument/2006/relationships/image" Target="../media/image4.png"/><Relationship Id="rId1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5.png"/><Relationship Id="rId4" Type="http://schemas.openxmlformats.org/officeDocument/2006/relationships/image" Target="../media/image3.png"/><Relationship Id="rId9" Type="http://schemas.openxmlformats.org/officeDocument/2006/relationships/image" Target="../media/image1.png"/><Relationship Id="rId5" Type="http://schemas.openxmlformats.org/officeDocument/2006/relationships/image" Target="../media/image2.png"/><Relationship Id="rId6" Type="http://schemas.openxmlformats.org/officeDocument/2006/relationships/image" Target="../media/image9.png"/><Relationship Id="rId7" Type="http://schemas.openxmlformats.org/officeDocument/2006/relationships/image" Target="../media/image6.png"/><Relationship Id="rId8" Type="http://schemas.openxmlformats.org/officeDocument/2006/relationships/image" Target="../media/image1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5.png"/><Relationship Id="rId4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20.png"/><Relationship Id="rId5" Type="http://schemas.openxmlformats.org/officeDocument/2006/relationships/image" Target="../media/image17.png"/></Relationships>
</file>

<file path=ppt/slides/_rels/slide8.xml.rels><?xml version="1.0" encoding="UTF-8" standalone="yes"?><Relationships xmlns="http://schemas.openxmlformats.org/package/2006/relationships"><Relationship Id="rId11" Type="http://schemas.openxmlformats.org/officeDocument/2006/relationships/image" Target="../media/image35.png"/><Relationship Id="rId10" Type="http://schemas.openxmlformats.org/officeDocument/2006/relationships/image" Target="../media/image32.png"/><Relationship Id="rId12" Type="http://schemas.openxmlformats.org/officeDocument/2006/relationships/image" Target="../media/image31.png"/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21.png"/><Relationship Id="rId9" Type="http://schemas.openxmlformats.org/officeDocument/2006/relationships/image" Target="../media/image28.png"/><Relationship Id="rId5" Type="http://schemas.openxmlformats.org/officeDocument/2006/relationships/image" Target="../media/image19.png"/><Relationship Id="rId6" Type="http://schemas.openxmlformats.org/officeDocument/2006/relationships/image" Target="../media/image18.png"/><Relationship Id="rId7" Type="http://schemas.openxmlformats.org/officeDocument/2006/relationships/image" Target="../media/image10.png"/><Relationship Id="rId8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5.png"/><Relationship Id="rId4" Type="http://schemas.openxmlformats.org/officeDocument/2006/relationships/image" Target="../media/image23.png"/><Relationship Id="rId9" Type="http://schemas.openxmlformats.org/officeDocument/2006/relationships/image" Target="../media/image25.png"/><Relationship Id="rId5" Type="http://schemas.openxmlformats.org/officeDocument/2006/relationships/image" Target="../media/image30.png"/><Relationship Id="rId6" Type="http://schemas.openxmlformats.org/officeDocument/2006/relationships/image" Target="../media/image27.png"/><Relationship Id="rId7" Type="http://schemas.openxmlformats.org/officeDocument/2006/relationships/image" Target="../media/image24.png"/><Relationship Id="rId8" Type="http://schemas.openxmlformats.org/officeDocument/2006/relationships/image" Target="../media/image3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26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71525" y="4600426"/>
            <a:ext cx="10839450" cy="986730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771525" y="1404193"/>
            <a:ext cx="108394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0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UNIT 2: ADVANCED DATA MINING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771525" y="1712714"/>
            <a:ext cx="11381422" cy="134094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Mining </a:t>
            </a:r>
            <a:r>
              <a:rPr b="1" i="0" lang="en-US" sz="48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Multidimensional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4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 Association Rules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71525" y="3434655"/>
            <a:ext cx="10839450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CA3AF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Extending traditional mining to complex, multi-attribute insights.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771525" y="4943326"/>
            <a:ext cx="10839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B7280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Presented by: </a:t>
            </a:r>
            <a:r>
              <a:rPr b="0" i="0" lang="en-US" sz="13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Vaishnavi Singh (RA2311003030580)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771525" y="5265241"/>
            <a:ext cx="108394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6B7280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To: </a:t>
            </a:r>
            <a:r>
              <a:rPr b="0" i="0" lang="en-US" sz="1350" u="none" cap="none" strike="noStrike">
                <a:solidFill>
                  <a:srgbClr val="DEFF9A"/>
                </a:solidFill>
                <a:latin typeface="Urbanist Medium"/>
                <a:ea typeface="Urbanist Medium"/>
                <a:cs typeface="Urbanist Medium"/>
                <a:sym typeface="Urbanist Medium"/>
              </a:rPr>
              <a:t>Anirudha Gaikwad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4"/>
          <p:cNvSpPr txBox="1"/>
          <p:nvPr/>
        </p:nvSpPr>
        <p:spPr>
          <a:xfrm>
            <a:off x="581025" y="1674465"/>
            <a:ext cx="5490686" cy="19600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7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Beyond Simple Transactions</a:t>
            </a:r>
            <a:endParaRPr/>
          </a:p>
        </p:txBody>
      </p:sp>
      <p:sp>
        <p:nvSpPr>
          <p:cNvPr id="97" name="Google Shape;97;p14"/>
          <p:cNvSpPr txBox="1"/>
          <p:nvPr/>
        </p:nvSpPr>
        <p:spPr>
          <a:xfrm>
            <a:off x="581025" y="2060971"/>
            <a:ext cx="522922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Traditional Association Rules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focus solely on items within a transaction (e.g., {Milk, Bread} → {Butter}). This is limited to "what" is bought.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581025" y="3165871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Multidimensional Association Rules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incorporate additional attributes or "dimensions" such as: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81025" y="5356621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This allows for deeper insights: </a:t>
            </a:r>
            <a:r>
              <a:rPr b="0" i="1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"Young urban males are likely to buy sports shoes."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742950" y="3965971"/>
            <a:ext cx="28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66775" y="3965971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Demographics (Age, Gender)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742950" y="4413646"/>
            <a:ext cx="28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66775" y="4413646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Geography (Location, Region)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742950" y="4861321"/>
            <a:ext cx="28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66775" y="4861321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Time (Season, Month)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581025" y="485775"/>
            <a:ext cx="11581447" cy="449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Concept Overview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81025" y="106858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59110"/>
            <a:ext cx="3486150" cy="49131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4" name="Google Shape;11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459110"/>
            <a:ext cx="3486150" cy="49131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5" name="Google Shape;115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459110"/>
            <a:ext cx="3486150" cy="49131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6" name="Google Shape;116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3836342"/>
            <a:ext cx="2895600" cy="1519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7" name="Google Shape;117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4648200" y="3836342"/>
            <a:ext cx="2895600" cy="1519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8" name="Google Shape;118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420100" y="3836342"/>
            <a:ext cx="2895600" cy="1519981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9" name="Google Shape;119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76300" y="1754385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876300" y="2554485"/>
            <a:ext cx="1730216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Inter-Dimension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876300" y="3101131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Rules implying relationships between </a:t>
            </a: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different</a:t>
            </a:r>
            <a:r>
              <a:rPr b="0" i="0" lang="en-US" sz="1200" u="none" cap="none" strike="noStrike">
                <a:solidFill>
                  <a:srgbClr val="AAAAA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dimensions.</a:t>
            </a:r>
            <a:endParaRPr/>
          </a:p>
        </p:txBody>
      </p:sp>
      <p:pic>
        <p:nvPicPr>
          <p:cNvPr descr="image.png" id="122" name="Google Shape;122;p15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4648200" y="1754385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5"/>
          <p:cNvSpPr txBox="1"/>
          <p:nvPr/>
        </p:nvSpPr>
        <p:spPr>
          <a:xfrm>
            <a:off x="4648200" y="2554485"/>
            <a:ext cx="1950243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Hybrid-Dimension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4648200" y="3101131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Mixes categorical attributes with item-based transactions.</a:t>
            </a:r>
            <a:endParaRPr/>
          </a:p>
        </p:txBody>
      </p:sp>
      <p:pic>
        <p:nvPicPr>
          <p:cNvPr descr="image.png" id="125" name="Google Shape;125;p15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420100" y="1754385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8420100" y="2554485"/>
            <a:ext cx="1730216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Intra-Dimension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8420100" y="3101131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Captures patterns within the </a:t>
            </a:r>
            <a:r>
              <a:rPr b="0" i="0" lang="en-US" sz="1200" u="none" cap="none" strike="noStrike">
                <a:solidFill>
                  <a:srgbClr val="AAAAAA"/>
                </a:solidFill>
                <a:latin typeface="Urbanist"/>
                <a:ea typeface="Urbanist"/>
                <a:cs typeface="Urbanist"/>
                <a:sym typeface="Urbanist"/>
              </a:rPr>
              <a:t>same</a:t>
            </a:r>
            <a:r>
              <a:rPr b="0" i="0" lang="en-US" sz="1200" u="none" cap="none" strike="noStrike">
                <a:solidFill>
                  <a:srgbClr val="AAAAA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dimension (e.g., product hierarchy).</a:t>
            </a:r>
            <a:endParaRPr/>
          </a:p>
        </p:txBody>
      </p:sp>
      <p:pic>
        <p:nvPicPr>
          <p:cNvPr descr="image.png" id="128" name="Google Shape;128;p15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1028700" y="190678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15"/>
          <p:cNvSpPr txBox="1"/>
          <p:nvPr/>
        </p:nvSpPr>
        <p:spPr>
          <a:xfrm>
            <a:off x="1104900" y="4160192"/>
            <a:ext cx="2476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Example: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1104900" y="4525863"/>
            <a:ext cx="24765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(Education=Graduate, Income=High) → (Buys=Luxury Car)</a:t>
            </a:r>
            <a:endParaRPr/>
          </a:p>
        </p:txBody>
      </p:sp>
      <p:pic>
        <p:nvPicPr>
          <p:cNvPr descr="image.png" id="131" name="Google Shape;131;p15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4781550" y="1906785"/>
            <a:ext cx="3429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5"/>
          <p:cNvSpPr txBox="1"/>
          <p:nvPr/>
        </p:nvSpPr>
        <p:spPr>
          <a:xfrm>
            <a:off x="4876800" y="4160192"/>
            <a:ext cx="2476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Example: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4876800" y="4525863"/>
            <a:ext cx="24765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(Age=25-40, Location=USA) → {Smartphone, Laptop}</a:t>
            </a:r>
            <a:endParaRPr/>
          </a:p>
        </p:txBody>
      </p:sp>
      <p:pic>
        <p:nvPicPr>
          <p:cNvPr descr="image.png" id="134" name="Google Shape;134;p15"/>
          <p:cNvPicPr preferRelativeResize="0"/>
          <p:nvPr/>
        </p:nvPicPr>
        <p:blipFill rotWithShape="1">
          <a:blip r:embed="rId13">
            <a:alphaModFix/>
          </a:blip>
          <a:srcRect b="0" l="0" r="0" t="0"/>
          <a:stretch/>
        </p:blipFill>
        <p:spPr>
          <a:xfrm>
            <a:off x="8572500" y="1906785"/>
            <a:ext cx="3048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5" name="Google Shape;135;p15"/>
          <p:cNvSpPr txBox="1"/>
          <p:nvPr/>
        </p:nvSpPr>
        <p:spPr>
          <a:xfrm>
            <a:off x="8648700" y="4160192"/>
            <a:ext cx="24765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888888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Example: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648700" y="4525863"/>
            <a:ext cx="24765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FFFFFF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(Category=Electronics) → (Buys=Laptop, Mouse)</a:t>
            </a:r>
            <a:endParaRPr/>
          </a:p>
        </p:txBody>
      </p:sp>
      <p:sp>
        <p:nvSpPr>
          <p:cNvPr id="137" name="Google Shape;137;p15"/>
          <p:cNvSpPr txBox="1"/>
          <p:nvPr/>
        </p:nvSpPr>
        <p:spPr>
          <a:xfrm>
            <a:off x="581025" y="485775"/>
            <a:ext cx="11581447" cy="449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Types of Multidimensional Rules</a:t>
            </a:r>
            <a:endParaRPr/>
          </a:p>
        </p:txBody>
      </p:sp>
      <p:sp>
        <p:nvSpPr>
          <p:cNvPr id="138" name="Google Shape;138;p15"/>
          <p:cNvSpPr/>
          <p:nvPr/>
        </p:nvSpPr>
        <p:spPr>
          <a:xfrm>
            <a:off x="581025" y="106858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3" name="Google Shape;143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4" name="Google Shape;144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10667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16"/>
          <p:cNvSpPr txBox="1"/>
          <p:nvPr/>
        </p:nvSpPr>
        <p:spPr>
          <a:xfrm>
            <a:off x="6543675" y="2427089"/>
            <a:ext cx="28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146" name="Google Shape;146;p16"/>
          <p:cNvSpPr txBox="1"/>
          <p:nvPr/>
        </p:nvSpPr>
        <p:spPr>
          <a:xfrm>
            <a:off x="6667500" y="2427089"/>
            <a:ext cx="4943475" cy="8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Generalized Apriori Algorithm</a:t>
            </a:r>
            <a:endParaRPr/>
          </a:p>
        </p:txBody>
      </p:sp>
      <p:sp>
        <p:nvSpPr>
          <p:cNvPr id="147" name="Google Shape;147;p16"/>
          <p:cNvSpPr txBox="1"/>
          <p:nvPr/>
        </p:nvSpPr>
        <p:spPr>
          <a:xfrm>
            <a:off x="6543675" y="3419475"/>
            <a:ext cx="28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148" name="Google Shape;148;p16"/>
          <p:cNvSpPr txBox="1"/>
          <p:nvPr/>
        </p:nvSpPr>
        <p:spPr>
          <a:xfrm>
            <a:off x="6667500" y="3419475"/>
            <a:ext cx="4943475" cy="8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FP-Growth (Frequent Pattern Growth)</a:t>
            </a:r>
            <a:endParaRPr/>
          </a:p>
        </p:txBody>
      </p:sp>
      <p:sp>
        <p:nvSpPr>
          <p:cNvPr id="149" name="Google Shape;149;p16"/>
          <p:cNvSpPr txBox="1"/>
          <p:nvPr/>
        </p:nvSpPr>
        <p:spPr>
          <a:xfrm>
            <a:off x="6543675" y="4411860"/>
            <a:ext cx="28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150" name="Google Shape;150;p16"/>
          <p:cNvSpPr txBox="1"/>
          <p:nvPr/>
        </p:nvSpPr>
        <p:spPr>
          <a:xfrm>
            <a:off x="6667500" y="4411860"/>
            <a:ext cx="4943475" cy="83998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Constraint-Based Mining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667500" y="2779514"/>
            <a:ext cx="49434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Treats categorical attributes as items and prunes infrequent attribute combinations based on minimum support.</a:t>
            </a:r>
            <a:endParaRPr/>
          </a:p>
        </p:txBody>
      </p:sp>
      <p:sp>
        <p:nvSpPr>
          <p:cNvPr id="152" name="Google Shape;152;p16"/>
          <p:cNvSpPr txBox="1"/>
          <p:nvPr/>
        </p:nvSpPr>
        <p:spPr>
          <a:xfrm>
            <a:off x="6667500" y="3771900"/>
            <a:ext cx="49434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Constructs an FP-Tree for efficient mining without candidate generation. Faster for large datasets.</a:t>
            </a:r>
            <a:endParaRPr/>
          </a:p>
        </p:txBody>
      </p:sp>
      <p:sp>
        <p:nvSpPr>
          <p:cNvPr id="153" name="Google Shape;153;p16"/>
          <p:cNvSpPr txBox="1"/>
          <p:nvPr/>
        </p:nvSpPr>
        <p:spPr>
          <a:xfrm>
            <a:off x="6667500" y="4764285"/>
            <a:ext cx="4943475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Focuses only on rules satisfying specific user criteria (e.g., "Only mine rules for customers aged 18-35").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581025" y="485775"/>
            <a:ext cx="11581447" cy="449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Key Mining Techniques</a:t>
            </a:r>
            <a:endParaRPr/>
          </a:p>
        </p:txBody>
      </p:sp>
      <p:sp>
        <p:nvSpPr>
          <p:cNvPr id="155" name="Google Shape;155;p16"/>
          <p:cNvSpPr/>
          <p:nvPr/>
        </p:nvSpPr>
        <p:spPr>
          <a:xfrm>
            <a:off x="581025" y="106858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0" name="Google Shape;160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7"/>
          <p:cNvSpPr txBox="1"/>
          <p:nvPr/>
        </p:nvSpPr>
        <p:spPr>
          <a:xfrm>
            <a:off x="581025" y="581025"/>
            <a:ext cx="5190648" cy="87987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OLAP-Based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31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Data Cube Approach</a:t>
            </a:r>
            <a:endParaRPr/>
          </a:p>
        </p:txBody>
      </p:sp>
      <p:pic>
        <p:nvPicPr>
          <p:cNvPr descr="image.png" id="162" name="Google Shape;16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096000" y="9525"/>
            <a:ext cx="60864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7"/>
          <p:cNvSpPr txBox="1"/>
          <p:nvPr/>
        </p:nvSpPr>
        <p:spPr>
          <a:xfrm>
            <a:off x="581025" y="2192535"/>
            <a:ext cx="4943475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Online Analytical Processing (OLAP) cubes store data in multiple dimensions, allowing for efficient 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Drill-down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and 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Roll-up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operations.</a:t>
            </a:r>
            <a:endParaRPr/>
          </a:p>
        </p:txBody>
      </p:sp>
      <p:sp>
        <p:nvSpPr>
          <p:cNvPr id="164" name="Google Shape;164;p17"/>
          <p:cNvSpPr txBox="1"/>
          <p:nvPr/>
        </p:nvSpPr>
        <p:spPr>
          <a:xfrm>
            <a:off x="581025" y="3487935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Example Dimensions:</a:t>
            </a:r>
            <a:endParaRPr/>
          </a:p>
        </p:txBody>
      </p:sp>
      <p:sp>
        <p:nvSpPr>
          <p:cNvPr id="165" name="Google Shape;165;p17"/>
          <p:cNvSpPr txBox="1"/>
          <p:nvPr/>
        </p:nvSpPr>
        <p:spPr>
          <a:xfrm>
            <a:off x="581025" y="5516760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Drill-down Insight: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(Month=Dec, Location=USA) → (Buys=Winter Jackets)</a:t>
            </a:r>
            <a:endParaRPr/>
          </a:p>
        </p:txBody>
      </p:sp>
      <p:sp>
        <p:nvSpPr>
          <p:cNvPr id="166" name="Google Shape;166;p17"/>
          <p:cNvSpPr txBox="1"/>
          <p:nvPr/>
        </p:nvSpPr>
        <p:spPr>
          <a:xfrm>
            <a:off x="742950" y="3983235"/>
            <a:ext cx="28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167" name="Google Shape;167;p17"/>
          <p:cNvSpPr txBox="1"/>
          <p:nvPr/>
        </p:nvSpPr>
        <p:spPr>
          <a:xfrm>
            <a:off x="866775" y="3983235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Time: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Daily, Weekly, Monthly</a:t>
            </a:r>
            <a:endParaRPr/>
          </a:p>
        </p:txBody>
      </p:sp>
      <p:sp>
        <p:nvSpPr>
          <p:cNvPr id="168" name="Google Shape;168;p17"/>
          <p:cNvSpPr txBox="1"/>
          <p:nvPr/>
        </p:nvSpPr>
        <p:spPr>
          <a:xfrm>
            <a:off x="742950" y="4430910"/>
            <a:ext cx="28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169" name="Google Shape;169;p17"/>
          <p:cNvSpPr txBox="1"/>
          <p:nvPr/>
        </p:nvSpPr>
        <p:spPr>
          <a:xfrm>
            <a:off x="866775" y="4430910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Product: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Electronics, Clothing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742950" y="4878585"/>
            <a:ext cx="28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171" name="Google Shape;171;p17"/>
          <p:cNvSpPr txBox="1"/>
          <p:nvPr/>
        </p:nvSpPr>
        <p:spPr>
          <a:xfrm>
            <a:off x="866775" y="4878585"/>
            <a:ext cx="465772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Location: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USA, Europe, Asia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6" name="Google Shape;17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7" name="Google Shape;17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5303490"/>
            <a:ext cx="11029950" cy="102483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78" name="Google Shape;178;p18"/>
          <p:cNvGraphicFramePr/>
          <p:nvPr/>
        </p:nvGraphicFramePr>
        <p:xfrm>
          <a:off x="581025" y="1503015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{FB9F2154-7A7A-4B86-90E5-58BCF263183A}</a:tableStyleId>
              </a:tblPr>
              <a:tblGrid>
                <a:gridCol w="1389600"/>
                <a:gridCol w="1178575"/>
                <a:gridCol w="1723875"/>
                <a:gridCol w="1759150"/>
                <a:gridCol w="2040575"/>
                <a:gridCol w="2938175"/>
              </a:tblGrid>
              <a:tr h="601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ID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Age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Gender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Income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Location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1F1F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EFF9A"/>
                          </a:solidFill>
                          <a:latin typeface="Urbanist SemiBold"/>
                          <a:ea typeface="Urbanist SemiBold"/>
                          <a:cs typeface="Urbanist SemiBold"/>
                          <a:sym typeface="Urbanist SemiBold"/>
                        </a:rPr>
                        <a:t>Product Bought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1F1F1F"/>
                    </a:solidFill>
                  </a:tcPr>
                </a:tc>
              </a:tr>
              <a:tr h="601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C001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Male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Urban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Bread, Milk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1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C002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32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Female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Suburban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Wine, Cheese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0E0E"/>
                    </a:solidFill>
                  </a:tcPr>
                </a:tc>
              </a:tr>
              <a:tr h="601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C003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40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Male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High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Urban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Steak, Wine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0165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C004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28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Female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Rural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0E0E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Bread, Butter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0E0E0E"/>
                    </a:solidFill>
                  </a:tcPr>
                </a:tc>
              </a:tr>
              <a:tr h="6016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C005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30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Male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Medium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Urban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500" u="none" cap="none" strike="noStrike">
                          <a:solidFill>
                            <a:srgbClr val="D1D5DB"/>
                          </a:solidFill>
                          <a:latin typeface="Urbanist Light"/>
                          <a:ea typeface="Urbanist Light"/>
                          <a:cs typeface="Urbanist Light"/>
                          <a:sym typeface="Urbanist Light"/>
                        </a:rPr>
                        <a:t>Milk, Eggs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9" name="Google Shape;179;p18"/>
          <p:cNvSpPr/>
          <p:nvPr/>
        </p:nvSpPr>
        <p:spPr>
          <a:xfrm>
            <a:off x="581025" y="2084040"/>
            <a:ext cx="1389608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8"/>
          <p:cNvSpPr/>
          <p:nvPr/>
        </p:nvSpPr>
        <p:spPr>
          <a:xfrm>
            <a:off x="1970633" y="2084040"/>
            <a:ext cx="1178569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18"/>
          <p:cNvSpPr/>
          <p:nvPr/>
        </p:nvSpPr>
        <p:spPr>
          <a:xfrm>
            <a:off x="3149203" y="2084040"/>
            <a:ext cx="1723876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2" name="Google Shape;182;p18"/>
          <p:cNvSpPr/>
          <p:nvPr/>
        </p:nvSpPr>
        <p:spPr>
          <a:xfrm>
            <a:off x="4873079" y="2084040"/>
            <a:ext cx="1759148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6632227" y="2084040"/>
            <a:ext cx="2040582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8672810" y="2084040"/>
            <a:ext cx="2938164" cy="19050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 txBox="1"/>
          <p:nvPr/>
        </p:nvSpPr>
        <p:spPr>
          <a:xfrm>
            <a:off x="809625" y="5493990"/>
            <a:ext cx="10610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Derived Rule:</a:t>
            </a:r>
            <a:r>
              <a:rPr b="0" i="0" lang="en-US" sz="135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(Age=25-35, Income=Medium, Location=Urban) → (Buys=Milk, Bread)</a:t>
            </a:r>
            <a:endParaRPr/>
          </a:p>
        </p:txBody>
      </p:sp>
      <p:sp>
        <p:nvSpPr>
          <p:cNvPr id="186" name="Google Shape;186;p18"/>
          <p:cNvSpPr txBox="1"/>
          <p:nvPr/>
        </p:nvSpPr>
        <p:spPr>
          <a:xfrm>
            <a:off x="809625" y="5863530"/>
            <a:ext cx="10610850" cy="27429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Strategy:</a:t>
            </a:r>
            <a:r>
              <a:rPr b="0" i="0" lang="en-US" sz="1350" u="none" cap="none" strike="noStrike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Offer bundle deals for young urban professionals.</a:t>
            </a:r>
            <a:endParaRPr/>
          </a:p>
        </p:txBody>
      </p:sp>
      <p:sp>
        <p:nvSpPr>
          <p:cNvPr id="187" name="Google Shape;187;p18"/>
          <p:cNvSpPr/>
          <p:nvPr/>
        </p:nvSpPr>
        <p:spPr>
          <a:xfrm>
            <a:off x="581025" y="2698402"/>
            <a:ext cx="138960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8"/>
          <p:cNvSpPr/>
          <p:nvPr/>
        </p:nvSpPr>
        <p:spPr>
          <a:xfrm>
            <a:off x="1970633" y="2698402"/>
            <a:ext cx="117856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8"/>
          <p:cNvSpPr/>
          <p:nvPr/>
        </p:nvSpPr>
        <p:spPr>
          <a:xfrm>
            <a:off x="3149203" y="2698402"/>
            <a:ext cx="172387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8"/>
          <p:cNvSpPr/>
          <p:nvPr/>
        </p:nvSpPr>
        <p:spPr>
          <a:xfrm>
            <a:off x="4873079" y="2698402"/>
            <a:ext cx="175914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8"/>
          <p:cNvSpPr/>
          <p:nvPr/>
        </p:nvSpPr>
        <p:spPr>
          <a:xfrm>
            <a:off x="6632227" y="2698402"/>
            <a:ext cx="2040582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8"/>
          <p:cNvSpPr/>
          <p:nvPr/>
        </p:nvSpPr>
        <p:spPr>
          <a:xfrm>
            <a:off x="8672810" y="2698402"/>
            <a:ext cx="293816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8"/>
          <p:cNvSpPr/>
          <p:nvPr/>
        </p:nvSpPr>
        <p:spPr>
          <a:xfrm>
            <a:off x="581025" y="3298477"/>
            <a:ext cx="138960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8"/>
          <p:cNvSpPr/>
          <p:nvPr/>
        </p:nvSpPr>
        <p:spPr>
          <a:xfrm>
            <a:off x="1970633" y="3298477"/>
            <a:ext cx="117856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8"/>
          <p:cNvSpPr/>
          <p:nvPr/>
        </p:nvSpPr>
        <p:spPr>
          <a:xfrm>
            <a:off x="3149203" y="3298477"/>
            <a:ext cx="172387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8"/>
          <p:cNvSpPr/>
          <p:nvPr/>
        </p:nvSpPr>
        <p:spPr>
          <a:xfrm>
            <a:off x="4873079" y="3298477"/>
            <a:ext cx="175914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8"/>
          <p:cNvSpPr/>
          <p:nvPr/>
        </p:nvSpPr>
        <p:spPr>
          <a:xfrm>
            <a:off x="6632227" y="3298477"/>
            <a:ext cx="2040582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8"/>
          <p:cNvSpPr/>
          <p:nvPr/>
        </p:nvSpPr>
        <p:spPr>
          <a:xfrm>
            <a:off x="8672810" y="3298477"/>
            <a:ext cx="293816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8"/>
          <p:cNvSpPr/>
          <p:nvPr/>
        </p:nvSpPr>
        <p:spPr>
          <a:xfrm>
            <a:off x="581025" y="3898552"/>
            <a:ext cx="138960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8"/>
          <p:cNvSpPr/>
          <p:nvPr/>
        </p:nvSpPr>
        <p:spPr>
          <a:xfrm>
            <a:off x="1970633" y="3898552"/>
            <a:ext cx="117856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8"/>
          <p:cNvSpPr/>
          <p:nvPr/>
        </p:nvSpPr>
        <p:spPr>
          <a:xfrm>
            <a:off x="3149203" y="3898552"/>
            <a:ext cx="172387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8"/>
          <p:cNvSpPr/>
          <p:nvPr/>
        </p:nvSpPr>
        <p:spPr>
          <a:xfrm>
            <a:off x="4873079" y="3898552"/>
            <a:ext cx="175914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8"/>
          <p:cNvSpPr/>
          <p:nvPr/>
        </p:nvSpPr>
        <p:spPr>
          <a:xfrm>
            <a:off x="6632227" y="3898552"/>
            <a:ext cx="2040582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8"/>
          <p:cNvSpPr/>
          <p:nvPr/>
        </p:nvSpPr>
        <p:spPr>
          <a:xfrm>
            <a:off x="8672810" y="3898552"/>
            <a:ext cx="293816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8"/>
          <p:cNvSpPr/>
          <p:nvPr/>
        </p:nvSpPr>
        <p:spPr>
          <a:xfrm>
            <a:off x="581025" y="4498627"/>
            <a:ext cx="138960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18"/>
          <p:cNvSpPr/>
          <p:nvPr/>
        </p:nvSpPr>
        <p:spPr>
          <a:xfrm>
            <a:off x="1970633" y="4498627"/>
            <a:ext cx="117856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8"/>
          <p:cNvSpPr/>
          <p:nvPr/>
        </p:nvSpPr>
        <p:spPr>
          <a:xfrm>
            <a:off x="3149203" y="4498627"/>
            <a:ext cx="172387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8" name="Google Shape;208;p18"/>
          <p:cNvSpPr/>
          <p:nvPr/>
        </p:nvSpPr>
        <p:spPr>
          <a:xfrm>
            <a:off x="4873079" y="4498627"/>
            <a:ext cx="175914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18"/>
          <p:cNvSpPr/>
          <p:nvPr/>
        </p:nvSpPr>
        <p:spPr>
          <a:xfrm>
            <a:off x="6632227" y="4498627"/>
            <a:ext cx="2040582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18"/>
          <p:cNvSpPr/>
          <p:nvPr/>
        </p:nvSpPr>
        <p:spPr>
          <a:xfrm>
            <a:off x="8672810" y="4498627"/>
            <a:ext cx="293816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18"/>
          <p:cNvSpPr/>
          <p:nvPr/>
        </p:nvSpPr>
        <p:spPr>
          <a:xfrm>
            <a:off x="581025" y="5098702"/>
            <a:ext cx="138960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18"/>
          <p:cNvSpPr/>
          <p:nvPr/>
        </p:nvSpPr>
        <p:spPr>
          <a:xfrm>
            <a:off x="1970633" y="5098702"/>
            <a:ext cx="1178569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18"/>
          <p:cNvSpPr/>
          <p:nvPr/>
        </p:nvSpPr>
        <p:spPr>
          <a:xfrm>
            <a:off x="3149203" y="5098702"/>
            <a:ext cx="1723876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18"/>
          <p:cNvSpPr/>
          <p:nvPr/>
        </p:nvSpPr>
        <p:spPr>
          <a:xfrm>
            <a:off x="4873079" y="5098702"/>
            <a:ext cx="1759148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18"/>
          <p:cNvSpPr/>
          <p:nvPr/>
        </p:nvSpPr>
        <p:spPr>
          <a:xfrm>
            <a:off x="6632227" y="5098702"/>
            <a:ext cx="2040582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8"/>
          <p:cNvSpPr/>
          <p:nvPr/>
        </p:nvSpPr>
        <p:spPr>
          <a:xfrm>
            <a:off x="8672810" y="5098702"/>
            <a:ext cx="2938164" cy="9525"/>
          </a:xfrm>
          <a:prstGeom prst="rect">
            <a:avLst/>
          </a:prstGeom>
          <a:solidFill>
            <a:srgbClr val="222222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18"/>
          <p:cNvSpPr txBox="1"/>
          <p:nvPr/>
        </p:nvSpPr>
        <p:spPr>
          <a:xfrm>
            <a:off x="581025" y="485775"/>
            <a:ext cx="11581447" cy="449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Retail Case Study</a:t>
            </a:r>
            <a:endParaRPr/>
          </a:p>
        </p:txBody>
      </p:sp>
      <p:sp>
        <p:nvSpPr>
          <p:cNvPr id="218" name="Google Shape;218;p18"/>
          <p:cNvSpPr/>
          <p:nvPr/>
        </p:nvSpPr>
        <p:spPr>
          <a:xfrm>
            <a:off x="581025" y="106858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3" name="Google Shape;22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9"/>
          <p:cNvSpPr txBox="1"/>
          <p:nvPr/>
        </p:nvSpPr>
        <p:spPr>
          <a:xfrm>
            <a:off x="581025" y="2939355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Correlation measures the relationship between variables to understand dependencies and improve decision-making.</a:t>
            </a:r>
            <a:endParaRPr/>
          </a:p>
        </p:txBody>
      </p:sp>
      <p:sp>
        <p:nvSpPr>
          <p:cNvPr id="225" name="Google Shape;225;p19"/>
          <p:cNvSpPr txBox="1"/>
          <p:nvPr/>
        </p:nvSpPr>
        <p:spPr>
          <a:xfrm>
            <a:off x="742950" y="3739455"/>
            <a:ext cx="28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226" name="Google Shape;226;p19"/>
          <p:cNvSpPr txBox="1"/>
          <p:nvPr/>
        </p:nvSpPr>
        <p:spPr>
          <a:xfrm>
            <a:off x="866775" y="3739455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Positive Correlation: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Direct relationship (+1)</a:t>
            </a:r>
            <a:endParaRPr/>
          </a:p>
        </p:txBody>
      </p:sp>
      <p:sp>
        <p:nvSpPr>
          <p:cNvPr id="227" name="Google Shape;227;p19"/>
          <p:cNvSpPr txBox="1"/>
          <p:nvPr/>
        </p:nvSpPr>
        <p:spPr>
          <a:xfrm>
            <a:off x="742950" y="4187130"/>
            <a:ext cx="28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228" name="Google Shape;228;p19"/>
          <p:cNvSpPr txBox="1"/>
          <p:nvPr/>
        </p:nvSpPr>
        <p:spPr>
          <a:xfrm>
            <a:off x="866775" y="4187130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Negative Correlation: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Inverse relationship (-1)</a:t>
            </a:r>
            <a:endParaRPr/>
          </a:p>
        </p:txBody>
      </p:sp>
      <p:sp>
        <p:nvSpPr>
          <p:cNvPr id="229" name="Google Shape;229;p19"/>
          <p:cNvSpPr txBox="1"/>
          <p:nvPr/>
        </p:nvSpPr>
        <p:spPr>
          <a:xfrm>
            <a:off x="742950" y="4634805"/>
            <a:ext cx="28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230" name="Google Shape;230;p19"/>
          <p:cNvSpPr txBox="1"/>
          <p:nvPr/>
        </p:nvSpPr>
        <p:spPr>
          <a:xfrm>
            <a:off x="866775" y="4634805"/>
            <a:ext cx="49434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No Correlation:</a:t>
            </a: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Independent variables (0)</a:t>
            </a:r>
            <a:endParaRPr/>
          </a:p>
        </p:txBody>
      </p:sp>
      <p:sp>
        <p:nvSpPr>
          <p:cNvPr id="231" name="Google Shape;231;p19"/>
          <p:cNvSpPr txBox="1"/>
          <p:nvPr/>
        </p:nvSpPr>
        <p:spPr>
          <a:xfrm>
            <a:off x="6610350" y="2689621"/>
            <a:ext cx="4810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Pearson Correlation Coefficient (r)</a:t>
            </a:r>
            <a:endParaRPr/>
          </a:p>
        </p:txBody>
      </p:sp>
      <p:pic>
        <p:nvPicPr>
          <p:cNvPr descr="image.png" id="232" name="Google Shape;232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610350" y="3028652"/>
            <a:ext cx="4810125" cy="614957"/>
          </a:xfrm>
          <a:prstGeom prst="rect">
            <a:avLst/>
          </a:prstGeom>
          <a:noFill/>
          <a:ln>
            <a:noFill/>
          </a:ln>
        </p:spPr>
      </p:pic>
      <p:sp>
        <p:nvSpPr>
          <p:cNvPr id="233" name="Google Shape;233;p19"/>
          <p:cNvSpPr txBox="1"/>
          <p:nvPr/>
        </p:nvSpPr>
        <p:spPr>
          <a:xfrm>
            <a:off x="6610350" y="4367510"/>
            <a:ext cx="4810125" cy="2437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Chi-Square Test (Categorical)</a:t>
            </a:r>
            <a:endParaRPr/>
          </a:p>
        </p:txBody>
      </p:sp>
      <p:pic>
        <p:nvPicPr>
          <p:cNvPr descr="image.png" id="234" name="Google Shape;234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610350" y="4706540"/>
            <a:ext cx="4810125" cy="492323"/>
          </a:xfrm>
          <a:prstGeom prst="rect">
            <a:avLst/>
          </a:prstGeom>
          <a:noFill/>
          <a:ln>
            <a:noFill/>
          </a:ln>
        </p:spPr>
      </p:pic>
      <p:sp>
        <p:nvSpPr>
          <p:cNvPr id="235" name="Google Shape;235;p19"/>
          <p:cNvSpPr txBox="1"/>
          <p:nvPr/>
        </p:nvSpPr>
        <p:spPr>
          <a:xfrm>
            <a:off x="581025" y="485775"/>
            <a:ext cx="11581447" cy="449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Correlation Analysis</a:t>
            </a:r>
            <a:endParaRPr/>
          </a:p>
        </p:txBody>
      </p:sp>
      <p:sp>
        <p:nvSpPr>
          <p:cNvPr id="236" name="Google Shape;236;p19"/>
          <p:cNvSpPr/>
          <p:nvPr/>
        </p:nvSpPr>
        <p:spPr>
          <a:xfrm>
            <a:off x="581025" y="106858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1" name="Google Shape;241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2" name="Google Shape;242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240160"/>
            <a:ext cx="3486150" cy="41320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3" name="Google Shape;243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2240160"/>
            <a:ext cx="3486150" cy="413206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44" name="Google Shape;244;p20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2240160"/>
            <a:ext cx="3486150" cy="4132064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0"/>
          <p:cNvSpPr txBox="1"/>
          <p:nvPr/>
        </p:nvSpPr>
        <p:spPr>
          <a:xfrm>
            <a:off x="581025" y="1649610"/>
            <a:ext cx="1102995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To reduce noise and improve relevance, users define constraints to focus mining on specific patterns.</a:t>
            </a:r>
            <a:endParaRPr/>
          </a:p>
        </p:txBody>
      </p:sp>
      <p:pic>
        <p:nvPicPr>
          <p:cNvPr descr="image.png" id="246" name="Google Shape;246;p20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876300" y="2535435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20"/>
          <p:cNvSpPr txBox="1"/>
          <p:nvPr/>
        </p:nvSpPr>
        <p:spPr>
          <a:xfrm>
            <a:off x="876300" y="3335535"/>
            <a:ext cx="2480310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Knowledge Constraints</a:t>
            </a:r>
            <a:endParaRPr/>
          </a:p>
        </p:txBody>
      </p:sp>
      <p:sp>
        <p:nvSpPr>
          <p:cNvPr id="248" name="Google Shape;248;p20"/>
          <p:cNvSpPr txBox="1"/>
          <p:nvPr/>
        </p:nvSpPr>
        <p:spPr>
          <a:xfrm>
            <a:off x="876300" y="3882181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Specific relationships defined by user knowledge.</a:t>
            </a:r>
            <a:endParaRPr/>
          </a:p>
        </p:txBody>
      </p:sp>
      <p:sp>
        <p:nvSpPr>
          <p:cNvPr id="249" name="Google Shape;249;p20"/>
          <p:cNvSpPr txBox="1"/>
          <p:nvPr/>
        </p:nvSpPr>
        <p:spPr>
          <a:xfrm>
            <a:off x="876300" y="4617392"/>
            <a:ext cx="277177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"Find associations only between electronic items."</a:t>
            </a:r>
            <a:endParaRPr/>
          </a:p>
        </p:txBody>
      </p:sp>
      <p:pic>
        <p:nvPicPr>
          <p:cNvPr descr="image.png" id="250" name="Google Shape;250;p20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648200" y="2535435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1" name="Google Shape;251;p20"/>
          <p:cNvSpPr txBox="1"/>
          <p:nvPr/>
        </p:nvSpPr>
        <p:spPr>
          <a:xfrm>
            <a:off x="4648200" y="3335535"/>
            <a:ext cx="1800225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Data Constraints</a:t>
            </a:r>
            <a:endParaRPr/>
          </a:p>
        </p:txBody>
      </p:sp>
      <p:sp>
        <p:nvSpPr>
          <p:cNvPr id="252" name="Google Shape;252;p20"/>
          <p:cNvSpPr txBox="1"/>
          <p:nvPr/>
        </p:nvSpPr>
        <p:spPr>
          <a:xfrm>
            <a:off x="4648200" y="3882181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Based on specific attribute values like price or date.</a:t>
            </a:r>
            <a:endParaRPr/>
          </a:p>
        </p:txBody>
      </p:sp>
      <p:sp>
        <p:nvSpPr>
          <p:cNvPr id="253" name="Google Shape;253;p20"/>
          <p:cNvSpPr txBox="1"/>
          <p:nvPr/>
        </p:nvSpPr>
        <p:spPr>
          <a:xfrm>
            <a:off x="4648200" y="4617392"/>
            <a:ext cx="1724025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"Find transactions above $100."</a:t>
            </a:r>
            <a:endParaRPr/>
          </a:p>
        </p:txBody>
      </p:sp>
      <p:pic>
        <p:nvPicPr>
          <p:cNvPr descr="image.png" id="254" name="Google Shape;254;p20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420100" y="2535435"/>
            <a:ext cx="609600" cy="609600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0"/>
          <p:cNvSpPr txBox="1"/>
          <p:nvPr/>
        </p:nvSpPr>
        <p:spPr>
          <a:xfrm>
            <a:off x="8420100" y="3335535"/>
            <a:ext cx="2460307" cy="2513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8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Aggregate Constraints</a:t>
            </a:r>
            <a:endParaRPr/>
          </a:p>
        </p:txBody>
      </p:sp>
      <p:sp>
        <p:nvSpPr>
          <p:cNvPr id="256" name="Google Shape;256;p20"/>
          <p:cNvSpPr txBox="1"/>
          <p:nvPr/>
        </p:nvSpPr>
        <p:spPr>
          <a:xfrm>
            <a:off x="8420100" y="3882181"/>
            <a:ext cx="2895600" cy="4875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AAAAA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Based on aggregated functions like sum or count.</a:t>
            </a:r>
            <a:endParaRPr/>
          </a:p>
        </p:txBody>
      </p:sp>
      <p:sp>
        <p:nvSpPr>
          <p:cNvPr id="257" name="Google Shape;257;p20"/>
          <p:cNvSpPr txBox="1"/>
          <p:nvPr/>
        </p:nvSpPr>
        <p:spPr>
          <a:xfrm>
            <a:off x="8420100" y="4617392"/>
            <a:ext cx="161925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"Total price of items &gt; $200."</a:t>
            </a:r>
            <a:endParaRPr/>
          </a:p>
        </p:txBody>
      </p:sp>
      <p:pic>
        <p:nvPicPr>
          <p:cNvPr descr="image.png" id="258" name="Google Shape;258;p20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1028700" y="2687835"/>
            <a:ext cx="3048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9" name="Google Shape;259;p20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4819650" y="2687835"/>
            <a:ext cx="266700" cy="3048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0" name="Google Shape;260;p20"/>
          <p:cNvPicPr preferRelativeResize="0"/>
          <p:nvPr/>
        </p:nvPicPr>
        <p:blipFill rotWithShape="1">
          <a:blip r:embed="rId12">
            <a:alphaModFix/>
          </a:blip>
          <a:srcRect b="0" l="0" r="0" t="0"/>
          <a:stretch/>
        </p:blipFill>
        <p:spPr>
          <a:xfrm>
            <a:off x="8610600" y="2687835"/>
            <a:ext cx="22860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61" name="Google Shape;261;p20"/>
          <p:cNvSpPr txBox="1"/>
          <p:nvPr/>
        </p:nvSpPr>
        <p:spPr>
          <a:xfrm>
            <a:off x="581025" y="485775"/>
            <a:ext cx="11581447" cy="449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Constraint-Based Mining</a:t>
            </a:r>
            <a:endParaRPr/>
          </a:p>
        </p:txBody>
      </p:sp>
      <p:sp>
        <p:nvSpPr>
          <p:cNvPr id="262" name="Google Shape;262;p20"/>
          <p:cNvSpPr/>
          <p:nvPr/>
        </p:nvSpPr>
        <p:spPr>
          <a:xfrm>
            <a:off x="581025" y="106858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66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67" name="Google Shape;267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8" name="Google Shape;268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1459110"/>
            <a:ext cx="3486150" cy="49131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69" name="Google Shape;269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52925" y="1459110"/>
            <a:ext cx="3486150" cy="4913114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0" name="Google Shape;270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4825" y="1459110"/>
            <a:ext cx="3486150" cy="4913114"/>
          </a:xfrm>
          <a:prstGeom prst="rect">
            <a:avLst/>
          </a:prstGeom>
          <a:noFill/>
          <a:ln>
            <a:noFill/>
          </a:ln>
        </p:spPr>
      </p:pic>
      <p:sp>
        <p:nvSpPr>
          <p:cNvPr id="271" name="Google Shape;271;p21"/>
          <p:cNvSpPr txBox="1"/>
          <p:nvPr/>
        </p:nvSpPr>
        <p:spPr>
          <a:xfrm>
            <a:off x="803910" y="1754385"/>
            <a:ext cx="304038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Support</a:t>
            </a:r>
            <a:endParaRPr/>
          </a:p>
        </p:txBody>
      </p:sp>
      <p:sp>
        <p:nvSpPr>
          <p:cNvPr id="272" name="Google Shape;272;p21"/>
          <p:cNvSpPr txBox="1"/>
          <p:nvPr/>
        </p:nvSpPr>
        <p:spPr>
          <a:xfrm>
            <a:off x="876300" y="2238226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Frequency of itemset in dataset.</a:t>
            </a:r>
            <a:endParaRPr/>
          </a:p>
        </p:txBody>
      </p:sp>
      <p:sp>
        <p:nvSpPr>
          <p:cNvPr id="273" name="Google Shape;273;p21"/>
          <p:cNvSpPr txBox="1"/>
          <p:nvPr/>
        </p:nvSpPr>
        <p:spPr>
          <a:xfrm>
            <a:off x="4575810" y="1754385"/>
            <a:ext cx="304038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Confidence</a:t>
            </a:r>
            <a:endParaRPr/>
          </a:p>
        </p:txBody>
      </p:sp>
      <p:sp>
        <p:nvSpPr>
          <p:cNvPr id="274" name="Google Shape;274;p21"/>
          <p:cNvSpPr txBox="1"/>
          <p:nvPr/>
        </p:nvSpPr>
        <p:spPr>
          <a:xfrm>
            <a:off x="4648200" y="2238226"/>
            <a:ext cx="2895600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Likelihood of B given A.</a:t>
            </a:r>
            <a:endParaRPr/>
          </a:p>
        </p:txBody>
      </p:sp>
      <p:sp>
        <p:nvSpPr>
          <p:cNvPr id="275" name="Google Shape;275;p21"/>
          <p:cNvSpPr txBox="1"/>
          <p:nvPr/>
        </p:nvSpPr>
        <p:spPr>
          <a:xfrm>
            <a:off x="8347710" y="1754385"/>
            <a:ext cx="3040380" cy="29334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Lift</a:t>
            </a:r>
            <a:endParaRPr/>
          </a:p>
        </p:txBody>
      </p:sp>
      <p:sp>
        <p:nvSpPr>
          <p:cNvPr id="276" name="Google Shape;276;p21"/>
          <p:cNvSpPr txBox="1"/>
          <p:nvPr/>
        </p:nvSpPr>
        <p:spPr>
          <a:xfrm>
            <a:off x="8420100" y="2238226"/>
            <a:ext cx="2895600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Strength of association vs independence.</a:t>
            </a:r>
            <a:endParaRPr/>
          </a:p>
        </p:txBody>
      </p:sp>
      <p:sp>
        <p:nvSpPr>
          <p:cNvPr id="277" name="Google Shape;277;p21"/>
          <p:cNvSpPr txBox="1"/>
          <p:nvPr/>
        </p:nvSpPr>
        <p:spPr>
          <a:xfrm>
            <a:off x="8420100" y="4062263"/>
            <a:ext cx="2895600" cy="2132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0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&gt;1: Positive Correlation</a:t>
            </a:r>
            <a:endParaRPr/>
          </a:p>
        </p:txBody>
      </p:sp>
      <p:pic>
        <p:nvPicPr>
          <p:cNvPr descr="image.png" id="278" name="Google Shape;278;p2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104900" y="2924026"/>
            <a:ext cx="2476500" cy="39528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9" name="Google Shape;279;p2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876800" y="2924026"/>
            <a:ext cx="2476500" cy="452437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0" name="Google Shape;280;p21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648700" y="3228826"/>
            <a:ext cx="2476500" cy="452437"/>
          </a:xfrm>
          <a:prstGeom prst="rect">
            <a:avLst/>
          </a:prstGeom>
          <a:noFill/>
          <a:ln>
            <a:noFill/>
          </a:ln>
        </p:spPr>
      </p:pic>
      <p:sp>
        <p:nvSpPr>
          <p:cNvPr id="281" name="Google Shape;281;p21"/>
          <p:cNvSpPr txBox="1"/>
          <p:nvPr/>
        </p:nvSpPr>
        <p:spPr>
          <a:xfrm>
            <a:off x="581025" y="485775"/>
            <a:ext cx="11581447" cy="449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Market Basket Analysis Metrics</a:t>
            </a:r>
            <a:endParaRPr/>
          </a:p>
        </p:txBody>
      </p:sp>
      <p:sp>
        <p:nvSpPr>
          <p:cNvPr id="282" name="Google Shape;282;p21"/>
          <p:cNvSpPr/>
          <p:nvPr/>
        </p:nvSpPr>
        <p:spPr>
          <a:xfrm>
            <a:off x="581025" y="106858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7" name="Google Shape;287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8" name="Google Shape;288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81025" y="2010667"/>
            <a:ext cx="5229225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89" name="Google Shape;289;p22"/>
          <p:cNvSpPr txBox="1"/>
          <p:nvPr/>
        </p:nvSpPr>
        <p:spPr>
          <a:xfrm>
            <a:off x="6381750" y="2098327"/>
            <a:ext cx="522922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Data is often hierarchical. Rules can exist at different levels of abstraction.</a:t>
            </a:r>
            <a:endParaRPr/>
          </a:p>
        </p:txBody>
      </p:sp>
      <p:sp>
        <p:nvSpPr>
          <p:cNvPr id="290" name="Google Shape;290;p22"/>
          <p:cNvSpPr txBox="1"/>
          <p:nvPr/>
        </p:nvSpPr>
        <p:spPr>
          <a:xfrm>
            <a:off x="6381750" y="5203477"/>
            <a:ext cx="5229225" cy="5485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350" u="none" cap="none" strike="noStrike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Mining at multiple levels ensures no important patterns are missed (e.g., broad categories vs. specific brand loyalties).</a:t>
            </a:r>
            <a:endParaRPr/>
          </a:p>
        </p:txBody>
      </p:sp>
      <p:sp>
        <p:nvSpPr>
          <p:cNvPr id="291" name="Google Shape;291;p22"/>
          <p:cNvSpPr txBox="1"/>
          <p:nvPr/>
        </p:nvSpPr>
        <p:spPr>
          <a:xfrm>
            <a:off x="6543675" y="2898427"/>
            <a:ext cx="28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292" name="Google Shape;292;p22"/>
          <p:cNvSpPr txBox="1"/>
          <p:nvPr/>
        </p:nvSpPr>
        <p:spPr>
          <a:xfrm>
            <a:off x="6667500" y="2898427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Level 1 (Category):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{Beverages} → {Snacks}</a:t>
            </a:r>
            <a:endParaRPr/>
          </a:p>
        </p:txBody>
      </p:sp>
      <p:sp>
        <p:nvSpPr>
          <p:cNvPr id="293" name="Google Shape;293;p22"/>
          <p:cNvSpPr txBox="1"/>
          <p:nvPr/>
        </p:nvSpPr>
        <p:spPr>
          <a:xfrm>
            <a:off x="6543675" y="3650902"/>
            <a:ext cx="28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294" name="Google Shape;294;p22"/>
          <p:cNvSpPr txBox="1"/>
          <p:nvPr/>
        </p:nvSpPr>
        <p:spPr>
          <a:xfrm>
            <a:off x="6667500" y="3650902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Level 2 (Subcategory):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{Carbonated Drinks} → {Chips}</a:t>
            </a:r>
            <a:endParaRPr/>
          </a:p>
        </p:txBody>
      </p:sp>
      <p:sp>
        <p:nvSpPr>
          <p:cNvPr id="295" name="Google Shape;295;p22"/>
          <p:cNvSpPr txBox="1"/>
          <p:nvPr/>
        </p:nvSpPr>
        <p:spPr>
          <a:xfrm>
            <a:off x="6543675" y="4403377"/>
            <a:ext cx="28575" cy="304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•</a:t>
            </a:r>
            <a:endParaRPr/>
          </a:p>
        </p:txBody>
      </p:sp>
      <p:sp>
        <p:nvSpPr>
          <p:cNvPr id="296" name="Google Shape;296;p22"/>
          <p:cNvSpPr txBox="1"/>
          <p:nvPr/>
        </p:nvSpPr>
        <p:spPr>
          <a:xfrm>
            <a:off x="6667500" y="4403377"/>
            <a:ext cx="4943475" cy="60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8575" spcFirstLastPara="1" rIns="0" wrap="square" tIns="0">
            <a:spAutoFit/>
          </a:bodyPr>
          <a:lstStyle/>
          <a:p>
            <a:pPr indent="0" lvl="0" marL="0" marR="0" rtl="0" algn="l">
              <a:lnSpc>
                <a:spcPct val="133333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1D5DB"/>
                </a:solidFill>
                <a:latin typeface="Urbanist"/>
                <a:ea typeface="Urbanist"/>
                <a:cs typeface="Urbanist"/>
                <a:sym typeface="Urbanist"/>
              </a:rPr>
              <a:t>Level 3 (Item):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0" i="0" lang="en-US" sz="1500" u="none" cap="none" strike="noStrike">
                <a:solidFill>
                  <a:srgbClr val="D1D5DB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 {Coca-Cola} → {Lays Classic}</a:t>
            </a:r>
            <a:endParaRPr/>
          </a:p>
        </p:txBody>
      </p:sp>
      <p:sp>
        <p:nvSpPr>
          <p:cNvPr id="297" name="Google Shape;297;p22"/>
          <p:cNvSpPr txBox="1"/>
          <p:nvPr/>
        </p:nvSpPr>
        <p:spPr>
          <a:xfrm>
            <a:off x="581025" y="485775"/>
            <a:ext cx="11581447" cy="4494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Multilevel Association Rules</a:t>
            </a:r>
            <a:endParaRPr/>
          </a:p>
        </p:txBody>
      </p:sp>
      <p:sp>
        <p:nvSpPr>
          <p:cNvPr id="298" name="Google Shape;298;p22"/>
          <p:cNvSpPr/>
          <p:nvPr/>
        </p:nvSpPr>
        <p:spPr>
          <a:xfrm>
            <a:off x="581025" y="1068585"/>
            <a:ext cx="11029950" cy="9525"/>
          </a:xfrm>
          <a:prstGeom prst="rect">
            <a:avLst/>
          </a:prstGeom>
          <a:solidFill>
            <a:srgbClr val="333333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50505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23"/>
          <p:cNvSpPr txBox="1"/>
          <p:nvPr/>
        </p:nvSpPr>
        <p:spPr>
          <a:xfrm>
            <a:off x="4110751" y="2503140"/>
            <a:ext cx="3970496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Questions?</a:t>
            </a:r>
            <a:endParaRPr/>
          </a:p>
        </p:txBody>
      </p:sp>
      <p:sp>
        <p:nvSpPr>
          <p:cNvPr id="305" name="Google Shape;305;p23"/>
          <p:cNvSpPr txBox="1"/>
          <p:nvPr/>
        </p:nvSpPr>
        <p:spPr>
          <a:xfrm>
            <a:off x="4681537" y="3760440"/>
            <a:ext cx="2828925" cy="36567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DEFF9A"/>
                </a:solidFill>
                <a:latin typeface="Urbanist Light"/>
                <a:ea typeface="Urbanist Light"/>
                <a:cs typeface="Urbanist Light"/>
                <a:sym typeface="Urbanist Light"/>
              </a:rPr>
              <a:t>Thank you for your attention.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