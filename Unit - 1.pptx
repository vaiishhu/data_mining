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6p5//Z4Y503ZVW5k2973xFBxI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85F54-A914-49C4-AEDE-BDAB63622CA2}" v="821" dt="2026-01-28T07:39:06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4"/>
  </p:normalViewPr>
  <p:slideViewPr>
    <p:cSldViewPr snapToGrid="0">
      <p:cViewPr varScale="1">
        <p:scale>
          <a:sx n="108" d="100"/>
          <a:sy n="108" d="100"/>
        </p:scale>
        <p:origin x="166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24363" y="160034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000" b="1" dirty="0">
                <a:latin typeface="Times New Roman"/>
                <a:ea typeface="Roboto"/>
                <a:cs typeface="Roboto"/>
              </a:rPr>
              <a:t>TITLE:-</a:t>
            </a:r>
            <a:br>
              <a:rPr lang="en-US" sz="2000" b="1" dirty="0">
                <a:latin typeface="Times New Roman"/>
                <a:ea typeface="Roboto"/>
                <a:cs typeface="Roboto"/>
              </a:rPr>
            </a:br>
            <a:r>
              <a:rPr lang="en-US" sz="2000" b="1" dirty="0">
                <a:solidFill>
                  <a:srgbClr val="434343"/>
                </a:solidFill>
                <a:latin typeface="Times New Roman"/>
                <a:ea typeface="Roboto"/>
                <a:cs typeface="Roboto"/>
              </a:rPr>
              <a:t>AI-Powered University Assistant with Voice &amp; Context-Aware Responses</a:t>
            </a:r>
            <a:endParaRPr lang="en-US" sz="2000" b="1">
              <a:latin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834724" y="3399152"/>
            <a:ext cx="3894344" cy="2599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ID:</a:t>
            </a:r>
            <a:r>
              <a:rPr lang="en-US" sz="1400" dirty="0">
                <a:solidFill>
                  <a:schemeClr val="tx1"/>
                </a:solidFill>
                <a:latin typeface="Times New Roman"/>
                <a:ea typeface="Roboto"/>
                <a:cs typeface="Times New Roman"/>
                <a:sym typeface="Times New Roman"/>
              </a:rPr>
              <a:t> </a:t>
            </a:r>
            <a:r>
              <a:rPr lang="en-US" sz="14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BT27COREI001</a:t>
            </a:r>
            <a:endParaRPr lang="en-US" sz="1400">
              <a:solidFill>
                <a:srgbClr val="434343"/>
              </a:solidFill>
              <a:latin typeface="Times New Roman"/>
              <a:ea typeface="Roboto"/>
              <a:cs typeface="Roboto"/>
            </a:endParaRP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rgbClr val="434343"/>
              </a:solidFill>
              <a:latin typeface="Roboto"/>
              <a:ea typeface="Roboto"/>
              <a:cs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RA2311003030564</a:t>
            </a:r>
          </a:p>
          <a:p>
            <a:pPr marL="0" indent="0">
              <a:spcBef>
                <a:spcPts val="592"/>
              </a:spcBef>
              <a:buClr>
                <a:schemeClr val="dk1"/>
              </a:buClr>
              <a:buSzPct val="100000"/>
            </a:pP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Shubh Gupta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RA231103030576</a:t>
            </a:r>
          </a:p>
          <a:p>
            <a:pPr marL="0" indent="0">
              <a:spcBef>
                <a:spcPts val="592"/>
              </a:spcBef>
              <a:buSzPct val="100000"/>
            </a:pP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Dharmi Sharma</a:t>
            </a:r>
            <a:br>
              <a:rPr lang="en-US" sz="1400" dirty="0">
                <a:latin typeface="Times New Roman"/>
                <a:cs typeface="Times New Roman"/>
              </a:rPr>
            </a:b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RA2311003030579</a:t>
            </a:r>
          </a:p>
          <a:p>
            <a:pPr marL="0" indent="0">
              <a:spcBef>
                <a:spcPts val="592"/>
              </a:spcBef>
              <a:buSzPct val="100000"/>
            </a:pP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Shubham Rao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Times New Roman"/>
                <a:cs typeface="Times New Roman"/>
              </a:rPr>
              <a:t>RA2311003030580</a:t>
            </a:r>
          </a:p>
          <a:p>
            <a:pPr marL="0" indent="0">
              <a:spcBef>
                <a:spcPts val="592"/>
              </a:spcBef>
              <a:buClr>
                <a:schemeClr val="dk1"/>
              </a:buClr>
              <a:buSzPct val="100000"/>
            </a:pPr>
            <a:r>
              <a:rPr lang="en-US" sz="1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Vaishnavi Singh</a:t>
            </a:r>
            <a:endParaRPr lang="en-US" sz="14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78775" y="13095"/>
            <a:ext cx="605641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21CSP303T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997" y="4063367"/>
            <a:ext cx="2930477" cy="165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algn="ctr">
              <a:lnSpc>
                <a:spcPct val="170000"/>
              </a:lnSpc>
              <a:spcBef>
                <a:spcPts val="592"/>
              </a:spcBef>
              <a:buClr>
                <a:srgbClr val="888888"/>
              </a:buClr>
              <a:buSzPct val="100000"/>
            </a:pPr>
            <a:r>
              <a:rPr lang="en-US" sz="3200" dirty="0">
                <a:solidFill>
                  <a:schemeClr val="tx1"/>
                </a:solidFill>
                <a:latin typeface="Times New Roman"/>
                <a:cs typeface="Times New Roman"/>
              </a:rPr>
              <a:t>Project Guide: </a:t>
            </a:r>
            <a:br>
              <a:rPr lang="en-US" sz="3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3200" dirty="0">
                <a:solidFill>
                  <a:schemeClr val="tx1"/>
                </a:solidFill>
                <a:latin typeface="Times New Roman"/>
                <a:cs typeface="Times New Roman"/>
              </a:rPr>
              <a:t>Ms. Ankita Singh</a:t>
            </a:r>
          </a:p>
          <a:p>
            <a:pPr algn="ctr">
              <a:lnSpc>
                <a:spcPct val="170000"/>
              </a:lnSpc>
              <a:spcBef>
                <a:spcPts val="592"/>
              </a:spcBef>
              <a:buClr>
                <a:srgbClr val="888888"/>
              </a:buClr>
              <a:buSzPct val="100000"/>
            </a:pPr>
            <a:r>
              <a:rPr lang="en-US" sz="3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  <a:br>
              <a:rPr lang="en-US" sz="3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3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Google Shape;90;p1">
            <a:extLst>
              <a:ext uri="{FF2B5EF4-FFF2-40B4-BE49-F238E27FC236}">
                <a16:creationId xmlns:a16="http://schemas.microsoft.com/office/drawing/2014/main" id="{ED207F6C-08B0-7A80-8EBC-898EA8E60A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674" y="273132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705867" y="0"/>
            <a:ext cx="4663879" cy="117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dirty="0"/>
              <a:t> </a:t>
            </a:r>
            <a:endParaRPr lang="en-US" sz="2000" b="1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endParaRPr lang="en-US"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57200" y="577517"/>
            <a:ext cx="8229600" cy="554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     </a:t>
            </a:r>
            <a:r>
              <a:rPr lang="en-US" b="1" u="sng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lang="en-US" dirty="0"/>
          </a:p>
          <a:p>
            <a:pPr marL="0" indent="0">
              <a:spcBef>
                <a:spcPts val="0"/>
              </a:spcBef>
              <a:buSzPts val="3200"/>
              <a:buNone/>
            </a:pP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This project aims to create an AI university assistant that will enable context-based interaction, multi-modal forms of engagement for students, and be applicable through text and voice questions. </a:t>
            </a:r>
            <a:endParaRPr lang="en-US">
              <a:solidFill>
                <a:srgbClr val="000000"/>
              </a:solidFill>
              <a:latin typeface="Times New Roman"/>
              <a:ea typeface="Roboto"/>
              <a:cs typeface="Times New Roman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b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</a:br>
            <a: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The proposed system will utilize Natural Language Processing (NLP), Speech Recognition, and a semantic document search, to give precise and contextualized answers to user questions. </a:t>
            </a:r>
            <a:endParaRPr lang="en-US">
              <a:solidFill>
                <a:srgbClr val="000000"/>
              </a:solidFill>
              <a:latin typeface="Times New Roman"/>
              <a:ea typeface="Roboto"/>
              <a:cs typeface="Times New Roman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b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</a:br>
            <a: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Unlike existing FAQ bots, the intended system will use a combination of structured databases and unstructured sources such as syllabi, notices, and university Policies and Procedures to dynamically extract relevant information using document similarity and vector searching for textual information. </a:t>
            </a:r>
            <a:b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</a:rPr>
            </a:br>
            <a:br>
              <a:rPr lang="en-US" sz="1600" dirty="0">
                <a:latin typeface="Times New Roman"/>
                <a:ea typeface="Roboto"/>
                <a:cs typeface="Roboto"/>
                <a:sym typeface="Times New Roman"/>
              </a:rPr>
            </a:br>
            <a: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The assistant will run in multi-language mode and will provide proactive engagement for information such as deadlines, events, and exam schedules. The dynamic nature of the system will give department and year-specific responses for context-awareness, which will increase the accessibility of critical information to students with the aim to reduce resolution time for questions from students. </a:t>
            </a:r>
            <a:b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</a:rPr>
            </a:br>
            <a:br>
              <a:rPr lang="en-US" sz="1600" dirty="0">
                <a:latin typeface="Times New Roman"/>
                <a:ea typeface="Roboto"/>
                <a:cs typeface="Roboto"/>
                <a:sym typeface="Times New Roman"/>
              </a:rPr>
            </a:br>
            <a:r>
              <a:rPr lang="en-US" sz="1600" dirty="0">
                <a:solidFill>
                  <a:srgbClr val="434343"/>
                </a:solidFill>
                <a:latin typeface="Times New Roman"/>
                <a:ea typeface="Roboto"/>
                <a:cs typeface="Roboto"/>
                <a:sym typeface="Times New Roman"/>
              </a:rPr>
              <a:t>The dynamic searching will be evaluated through the absence of knowledge (response accuracy), latency, and satisfaction. The overall objective of the system is to improve communication efficiency and ultimately, decision-making in the educational setting.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                   </a:t>
            </a:r>
            <a:endParaRPr dirty="0">
              <a:latin typeface="Times New Roman"/>
              <a:ea typeface="Times New Roman"/>
              <a:cs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0644" y="79090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24-01-2026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2092400" y="274638"/>
            <a:ext cx="4330276" cy="111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dirty="0"/>
              <a:t> </a:t>
            </a:r>
            <a:endParaRPr lang="en-US" sz="2000" b="1">
              <a:solidFill>
                <a:srgbClr val="434343"/>
              </a:solidFill>
              <a:latin typeface="Times New Roman"/>
              <a:cs typeface="Times New Roman"/>
            </a:endParaRPr>
          </a:p>
          <a:p>
            <a:pPr>
              <a:buSzPts val="4400"/>
            </a:pPr>
            <a:endParaRPr lang="en-US" dirty="0"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endParaRPr lang="en-US" dirty="0"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57200" y="818149"/>
            <a:ext cx="8229600" cy="530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                           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 &amp; Problem Statement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SzPts val="3200"/>
              <a:buNone/>
            </a:pPr>
            <a:endParaRPr lang="en-US" dirty="0">
              <a:latin typeface="Times New Roman"/>
              <a:cs typeface="Times New Roman"/>
              <a:sym typeface="Times New Roman"/>
            </a:endParaRPr>
          </a:p>
          <a:p>
            <a:pPr marL="0" indent="0">
              <a:buSzPts val="3200"/>
              <a:buNone/>
            </a:pPr>
            <a:r>
              <a:rPr lang="en-US" sz="1600" b="1" dirty="0">
                <a:latin typeface="Times New Roman"/>
                <a:sym typeface="Times New Roman"/>
              </a:rPr>
              <a:t>   Background of the Problem:</a:t>
            </a:r>
            <a:endParaRPr lang="en-US" sz="1600" b="1" dirty="0">
              <a:latin typeface="Times New Roman"/>
              <a:cs typeface="Times New Roman"/>
            </a:endParaRPr>
          </a:p>
          <a:p>
            <a:pPr marL="0" indent="0" algn="just">
              <a:buSzPts val="3200"/>
              <a:buNone/>
            </a:pPr>
            <a:br>
              <a:rPr lang="en-US" sz="1400" dirty="0">
                <a:latin typeface="Times New Roman"/>
              </a:rPr>
            </a:br>
            <a:r>
              <a:rPr lang="en-US" sz="1400" dirty="0">
                <a:latin typeface="Times New Roman"/>
                <a:sym typeface="Times New Roman"/>
              </a:rPr>
              <a:t>     In many universities, students face challenges in retrieving accurate and timely academic information </a:t>
            </a:r>
            <a:endParaRPr lang="en-US" sz="1400" dirty="0">
              <a:latin typeface="Times New Roman"/>
              <a:cs typeface="Times New Roman"/>
            </a:endParaRPr>
          </a:p>
          <a:p>
            <a:pPr marL="0" indent="0" algn="just"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scattered  across multiple platforms—such as notice boards, portals, and faculty announcements. These </a:t>
            </a:r>
            <a:endParaRPr lang="en-US" sz="1400">
              <a:latin typeface="Times New Roman"/>
              <a:cs typeface="Times New Roman"/>
            </a:endParaRPr>
          </a:p>
          <a:p>
            <a:pPr marL="0" indent="0" algn="just"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 inefficiencies often lead to missed deadlines and reduced engagement.</a:t>
            </a:r>
            <a:endParaRPr lang="en-US" sz="1400">
              <a:latin typeface="Times New Roman"/>
              <a:ea typeface="Times New Roman"/>
              <a:cs typeface="Times New Roman"/>
            </a:endParaRPr>
          </a:p>
          <a:p>
            <a:pPr marL="0" indent="0">
              <a:buSzPts val="3200"/>
              <a:buNone/>
            </a:pPr>
            <a:endParaRPr lang="en-US" sz="1400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600" b="1" dirty="0">
                <a:latin typeface="Times New Roman"/>
                <a:sym typeface="Times New Roman"/>
              </a:rPr>
              <a:t>Motivation for Choosing the Topic:</a:t>
            </a:r>
            <a:endParaRPr lang="en-US" sz="1600" b="1" dirty="0">
              <a:latin typeface="Times New Roman"/>
            </a:endParaRPr>
          </a:p>
          <a:p>
            <a:pPr>
              <a:buSzPts val="3200"/>
              <a:buNone/>
            </a:pPr>
            <a:endParaRPr lang="en-US" sz="1600" b="1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The growing importance of AI in education presents an opportunity to build intelligent systems that can </a:t>
            </a:r>
            <a:endParaRPr lang="en-US" sz="1400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streamline information access, improve communication, and personalize student interactions.</a:t>
            </a:r>
            <a:endParaRPr lang="en-US" sz="1400" dirty="0">
              <a:latin typeface="Times New Roman"/>
            </a:endParaRPr>
          </a:p>
          <a:p>
            <a:pPr>
              <a:buSzPts val="3200"/>
              <a:buNone/>
            </a:pPr>
            <a:endParaRPr lang="en-US" sz="1400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600" b="1" dirty="0">
                <a:latin typeface="Times New Roman"/>
                <a:sym typeface="Times New Roman"/>
              </a:rPr>
              <a:t>Problem Statement:</a:t>
            </a:r>
            <a:endParaRPr lang="en-US" sz="1600" dirty="0">
              <a:latin typeface="Times New Roman"/>
            </a:endParaRPr>
          </a:p>
          <a:p>
            <a:pPr>
              <a:buSzPts val="3200"/>
              <a:buNone/>
            </a:pPr>
            <a:endParaRPr lang="en-US" sz="1600" b="1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To design and develop an AI-powered, context-aware university assistant that enables text and voice-based</a:t>
            </a:r>
            <a:endParaRPr lang="en-US" sz="1400" dirty="0">
              <a:latin typeface="Times New Roman"/>
            </a:endParaRPr>
          </a:p>
          <a:p>
            <a:pPr>
              <a:buSzPts val="3200"/>
              <a:buNone/>
            </a:pPr>
            <a:r>
              <a:rPr lang="en-US" sz="1400" dirty="0">
                <a:latin typeface="Times New Roman"/>
                <a:sym typeface="Times New Roman"/>
              </a:rPr>
              <a:t>    interactions to retrieve academic, administrative, and contextual information efficiently and inclusively.</a:t>
            </a:r>
            <a:endParaRPr lang="en-US" sz="1400" dirty="0">
              <a:latin typeface="Times New Roman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                 </a:t>
            </a:r>
            <a:endParaRPr dirty="0">
              <a:latin typeface="Times New Roman"/>
              <a:ea typeface="Times New Roman"/>
              <a:cs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1419" y="7820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01003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200" b="1" dirty="0">
                <a:latin typeface="Times New Roman"/>
                <a:cs typeface="Times New Roman"/>
              </a:rPr>
              <a:t>Literature Survey/Related work</a:t>
            </a:r>
            <a:endParaRPr lang="en-US" b="1"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   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endParaRPr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5220" y="93827"/>
            <a:ext cx="2079142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21" name="Google Shape;1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3AFCF1-56DE-FDCC-334B-02839AFB22E7}"/>
              </a:ext>
            </a:extLst>
          </p:cNvPr>
          <p:cNvSpPr txBox="1"/>
          <p:nvPr/>
        </p:nvSpPr>
        <p:spPr>
          <a:xfrm>
            <a:off x="162027" y="1285474"/>
            <a:ext cx="4536578" cy="38727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/>
                <a:cs typeface="Segoe UI"/>
              </a:rPr>
              <a:t>Review of Related Works:</a:t>
            </a:r>
          </a:p>
          <a:p>
            <a:pPr marL="285750" indent="-285750">
              <a:lnSpc>
                <a:spcPts val="2916"/>
              </a:lnSpc>
              <a:buFont typeface="Wingdings"/>
              <a:buChar char="Ø"/>
            </a:pPr>
            <a:r>
              <a:rPr lang="en-US" dirty="0">
                <a:solidFill>
                  <a:schemeClr val="tx1"/>
                </a:solidFill>
                <a:latin typeface="Times New Roman"/>
                <a:cs typeface="Segoe UI"/>
              </a:rPr>
              <a:t>Previous research explored AI-based assistants for personalized learning and inclusion of students with special needs.</a:t>
            </a:r>
          </a:p>
          <a:p>
            <a:pPr marL="285750" indent="-285750">
              <a:lnSpc>
                <a:spcPts val="2916"/>
              </a:lnSpc>
              <a:buFont typeface="Wingdings"/>
              <a:buChar char="Ø"/>
            </a:pPr>
            <a:r>
              <a:rPr lang="en-US" dirty="0">
                <a:solidFill>
                  <a:schemeClr val="tx1"/>
                </a:solidFill>
                <a:latin typeface="Times New Roman"/>
                <a:cs typeface="Segoe UI"/>
              </a:rPr>
              <a:t>These systems demonstrated the role of AI and NLP in enhancing accessibility, providing adaptive learning, and offering interactive educational experiences.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 marL="285750" indent="-285750">
              <a:lnSpc>
                <a:spcPts val="2916"/>
              </a:lnSpc>
              <a:buFont typeface="Wingdings"/>
              <a:buChar char="Ø"/>
            </a:pPr>
            <a:r>
              <a:rPr lang="en-US" dirty="0">
                <a:solidFill>
                  <a:schemeClr val="tx1"/>
                </a:solidFill>
                <a:latin typeface="Times New Roman"/>
                <a:cs typeface="Segoe UI"/>
              </a:rPr>
              <a:t>Other studies highlighted how speech recognition and adaptive systems improve inclusivity and accessibility for students with disabilities.</a:t>
            </a:r>
            <a:endParaRPr lang="en-US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31A86-8D7E-788D-73FB-57E1C62096AB}"/>
              </a:ext>
            </a:extLst>
          </p:cNvPr>
          <p:cNvSpPr txBox="1"/>
          <p:nvPr/>
        </p:nvSpPr>
        <p:spPr>
          <a:xfrm>
            <a:off x="4903647" y="1583542"/>
            <a:ext cx="3873142" cy="4122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3921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/>
                <a:cs typeface="Segoe UI"/>
              </a:rPr>
              <a:t>Gap Identified from Literature:</a:t>
            </a:r>
            <a:endParaRPr lang="en-US" sz="1600" dirty="0">
              <a:solidFill>
                <a:schemeClr val="tx1"/>
              </a:solidFill>
              <a:latin typeface="Times New Roman"/>
              <a:cs typeface="Segoe UI"/>
            </a:endParaRPr>
          </a:p>
          <a:p>
            <a:pPr marL="342900" indent="-342900" algn="just">
              <a:lnSpc>
                <a:spcPts val="3921"/>
              </a:lnSpc>
              <a:buFont typeface="Wingdings"/>
              <a:buChar char="Ø"/>
            </a:pPr>
            <a:r>
              <a:rPr lang="en-US" dirty="0">
                <a:solidFill>
                  <a:schemeClr val="tx1"/>
                </a:solidFill>
                <a:latin typeface="Times New Roman"/>
                <a:cs typeface="Segoe UI"/>
              </a:rPr>
              <a:t>Existing chatbots in the educational domain are often static, rule-based, and limited to FAQs. They lack dynamic document search, real-time contextual awareness, and personalized responses. </a:t>
            </a:r>
            <a:endParaRPr lang="en-US">
              <a:solidFill>
                <a:schemeClr val="tx1"/>
              </a:solidFill>
            </a:endParaRPr>
          </a:p>
          <a:p>
            <a:pPr marL="342900" indent="-342900">
              <a:lnSpc>
                <a:spcPts val="2832"/>
              </a:lnSpc>
              <a:buFont typeface="Wingdings"/>
              <a:buChar char="Ø"/>
            </a:pPr>
            <a:r>
              <a:rPr lang="en-US" dirty="0">
                <a:solidFill>
                  <a:schemeClr val="tx1"/>
                </a:solidFill>
                <a:latin typeface="Times New Roman"/>
                <a:cs typeface="Segoe UI"/>
              </a:rPr>
              <a:t>The proposed system addresses these gaps by combining semantic search, adaptive learning, and multi-modal interaction.</a:t>
            </a:r>
            <a:endParaRPr lang="en-US">
              <a:solidFill>
                <a:schemeClr val="tx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457200" y="588455"/>
            <a:ext cx="8229600" cy="5537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dirty="0"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lang="en-US" dirty="0">
              <a:latin typeface="Times New Roman"/>
              <a:ea typeface="Times New Roman"/>
              <a:cs typeface="Times New Roman"/>
            </a:endParaRPr>
          </a:p>
          <a:p>
            <a:pPr marL="556895" lvl="1" indent="-285750">
              <a:lnSpc>
                <a:spcPts val="3519"/>
              </a:lnSpc>
              <a:spcBef>
                <a:spcPts val="0"/>
              </a:spcBef>
              <a:buFont typeface="Wingdings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To design an AI-powered, voice-enabled assistant that understands academic queries contextually.</a:t>
            </a:r>
          </a:p>
          <a:p>
            <a:pPr marL="556895" lvl="1" indent="-285750">
              <a:lnSpc>
                <a:spcPts val="3519"/>
              </a:lnSpc>
              <a:spcBef>
                <a:spcPct val="0"/>
              </a:spcBef>
              <a:buFont typeface="Wingdings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To integrate semantic search for accurate document and resource retrieval.</a:t>
            </a:r>
          </a:p>
          <a:p>
            <a:pPr marL="556895" lvl="1" indent="-285750">
              <a:lnSpc>
                <a:spcPts val="3519"/>
              </a:lnSpc>
              <a:spcBef>
                <a:spcPct val="0"/>
              </a:spcBef>
              <a:buFont typeface="Wingdings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To implement adaptive learning and personalization for diverse learners.</a:t>
            </a:r>
          </a:p>
          <a:p>
            <a:pPr marL="478155" lvl="1" indent="-238760" algn="just">
              <a:lnSpc>
                <a:spcPts val="3100"/>
              </a:lnSpc>
              <a:spcBef>
                <a:spcPts val="0"/>
              </a:spcBef>
              <a:buFont typeface="Wingdings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To ensure accessibility for students with special needs using inclusive design.</a:t>
            </a:r>
          </a:p>
          <a:p>
            <a:pPr marL="478155" lvl="1" indent="-238760" algn="just">
              <a:lnSpc>
                <a:spcPts val="3100"/>
              </a:lnSpc>
              <a:spcBef>
                <a:spcPts val="0"/>
              </a:spcBef>
              <a:buFont typeface="Wingdings"/>
              <a:buChar char="Ø"/>
            </a:pPr>
            <a:r>
              <a:rPr lang="en-US" sz="17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Multi-modal capability for accessibility through both text and voice.</a:t>
            </a:r>
          </a:p>
          <a:p>
            <a:pPr marL="478155" lvl="1" indent="-238760" algn="just">
              <a:lnSpc>
                <a:spcPts val="3100"/>
              </a:lnSpc>
              <a:spcBef>
                <a:spcPts val="0"/>
              </a:spcBef>
              <a:buFont typeface="Wingdings"/>
              <a:buChar char="Ø"/>
            </a:pPr>
            <a:r>
              <a:rPr lang="en-US" sz="17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Semantic search combining structured and unstructured data sources.</a:t>
            </a:r>
          </a:p>
          <a:p>
            <a:pPr marL="478155" lvl="1" indent="-238760" algn="just">
              <a:lnSpc>
                <a:spcPts val="3100"/>
              </a:lnSpc>
              <a:spcBef>
                <a:spcPts val="0"/>
              </a:spcBef>
              <a:buFont typeface="Wingdings"/>
              <a:buChar char="Ø"/>
            </a:pPr>
            <a:r>
              <a:rPr lang="en-US" sz="17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Multilingual support for wider usability.</a:t>
            </a:r>
          </a:p>
          <a:p>
            <a:pPr marL="478155" lvl="1" indent="-238760" algn="just">
              <a:lnSpc>
                <a:spcPts val="3100"/>
              </a:lnSpc>
              <a:spcBef>
                <a:spcPts val="0"/>
              </a:spcBef>
              <a:buFont typeface="Wingdings"/>
              <a:buChar char="Ø"/>
            </a:pPr>
            <a:r>
              <a:rPr lang="en-US" sz="1700" dirty="0">
                <a:solidFill>
                  <a:schemeClr val="tx1"/>
                </a:solidFill>
                <a:latin typeface="Times New Roman"/>
                <a:ea typeface="Times New Roman"/>
                <a:cs typeface="Arial"/>
              </a:rPr>
              <a:t>Adaptive and ethical AI framework ensuring inclusivity and fairness.</a:t>
            </a:r>
            <a:endParaRPr lang="en-US" sz="1700">
              <a:solidFill>
                <a:schemeClr val="tx1"/>
              </a:solidFill>
              <a:latin typeface="Times New Roman"/>
            </a:endParaRPr>
          </a:p>
          <a:p>
            <a:pPr marL="285750" indent="-285750">
              <a:lnSpc>
                <a:spcPts val="3519"/>
              </a:lnSpc>
              <a:spcBef>
                <a:spcPct val="0"/>
              </a:spcBef>
              <a:buFont typeface="Wingdings"/>
              <a:buChar char="Ø"/>
            </a:pPr>
            <a:endParaRPr lang="en-US" sz="1300" dirty="0">
              <a:solidFill>
                <a:schemeClr val="tx1"/>
              </a:solidFill>
              <a:latin typeface="Segoe UI"/>
              <a:ea typeface="Times New Roman"/>
              <a:cs typeface="Segoe UI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13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spcBef>
                <a:spcPts val="0"/>
              </a:spcBef>
              <a:buSzPts val="3200"/>
              <a:buNone/>
            </a:pPr>
            <a:endParaRPr lang="en-US" sz="22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0015" y="23127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30" name="Google Shape;13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457200" y="238445"/>
            <a:ext cx="8229600" cy="588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571500" lvl="1" indent="0">
              <a:buNone/>
            </a:pPr>
            <a:endParaRPr lang="en-US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lvl="1" indent="0">
              <a:buNone/>
            </a:pPr>
            <a:r>
              <a:rPr lang="en-US" sz="2400" b="1" dirty="0">
                <a:latin typeface="Times New Roman"/>
                <a:cs typeface="Times New Roman"/>
                <a:sym typeface="Times New Roman"/>
              </a:rPr>
              <a:t>                                                     </a:t>
            </a:r>
            <a:r>
              <a:rPr lang="en-US" sz="4500" b="1" dirty="0">
                <a:latin typeface="Times New Roman"/>
                <a:cs typeface="Times New Roman"/>
                <a:sym typeface="Times New Roman"/>
              </a:rPr>
              <a:t>References</a:t>
            </a:r>
            <a:endParaRPr lang="en-US" sz="4500" b="1" dirty="0"/>
          </a:p>
          <a:p>
            <a:pPr marL="571500" lvl="1" indent="0" algn="ctr">
              <a:buNone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endParaRPr lang="en-US" sz="2600" b="1" dirty="0">
              <a:solidFill>
                <a:schemeClr val="tx1"/>
              </a:solidFill>
              <a:latin typeface="Times New Roman"/>
              <a:cs typeface="Arial"/>
            </a:endParaRP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/>
                <a:cs typeface="Arial"/>
              </a:rPr>
              <a:t>Sajja, P. S. et al., “Artificial Intelligence-Enabled Intelligent Assistant for Personalized and Adaptive Learning in Higher Education,” 2024.</a:t>
            </a:r>
            <a:endParaRPr lang="en-US">
              <a:solidFill>
                <a:schemeClr val="tx1"/>
              </a:solidFill>
            </a:endParaRP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/>
                <a:cs typeface="Arial"/>
              </a:rPr>
              <a:t>Mehta, R. et al., “Inclusion of Children with Special Needs in the Educational System, Artificial Intelligence (AI),” 2023.</a:t>
            </a:r>
          </a:p>
          <a:p>
            <a:pPr marL="588645" lvl="1" indent="-294005" algn="just">
              <a:lnSpc>
                <a:spcPts val="3817"/>
              </a:lnSpc>
              <a:spcBef>
                <a:spcPts val="0"/>
              </a:spcBef>
              <a:buAutoNum type="arabicPeriod"/>
            </a:pPr>
            <a:r>
              <a:rPr lang="en-US" sz="2700" b="1" dirty="0">
                <a:solidFill>
                  <a:schemeClr val="tx1"/>
                </a:solidFill>
                <a:latin typeface="Times New Roman"/>
                <a:cs typeface="Arial"/>
              </a:rPr>
              <a:t>Rasheed, A. et al., “Semantic Search and Intelligent Document Retrieval Systems,” 2023.</a:t>
            </a: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/>
                <a:cs typeface="Arial"/>
              </a:rPr>
              <a:t>Nkechi, U. et al., “Ethical AI Framework for Education,” 2024.</a:t>
            </a: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/>
                <a:cs typeface="Arial"/>
              </a:rPr>
              <a:t>Adams, L. et al., “Assistive Technologies in Education,” 2022.</a:t>
            </a:r>
          </a:p>
          <a:p>
            <a:pPr marL="567055" lvl="1" indent="-283210" algn="just">
              <a:lnSpc>
                <a:spcPts val="3677"/>
              </a:lnSpc>
              <a:spcBef>
                <a:spcPts val="0"/>
              </a:spcBef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/>
                <a:cs typeface="Arial"/>
              </a:rPr>
              <a:t>Torres, D. et al., “Adaptive Learning Systems for Inclusive Education,” 2023.</a:t>
            </a:r>
          </a:p>
          <a:p>
            <a:pPr marL="571500" lvl="1" indent="0">
              <a:buNone/>
            </a:pPr>
            <a:endParaRPr lang="en-US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8923" y="240009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/>
              <a:t>24-01-2026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8800" dirty="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8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9539" y="42751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Major Project- Review I</a:t>
            </a:r>
            <a:endParaRPr dirty="0"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131</Words>
  <Application>Microsoft Office PowerPoint</Application>
  <PresentationFormat>On-screen Show (4:3)</PresentationFormat>
  <Paragraphs>46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TITLE:- AI-Powered University Assistant with Voice &amp; Context-Aware Responses</vt:lpstr>
      <vt:lpstr>  </vt:lpstr>
      <vt:lpstr>   </vt:lpstr>
      <vt:lpstr>Literature Survey/Related work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Shashi Mehrotra Seth</cp:lastModifiedBy>
  <cp:revision>261</cp:revision>
  <dcterms:created xsi:type="dcterms:W3CDTF">2020-05-13T07:00:09Z</dcterms:created>
  <dcterms:modified xsi:type="dcterms:W3CDTF">2026-01-28T12:59:09Z</dcterms:modified>
</cp:coreProperties>
</file>