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6700" y="6501408"/>
            <a:ext cx="304800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6700" y="6501408"/>
            <a:ext cx="304800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0" y="1964010"/>
            <a:ext cx="5934075" cy="196408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7733"/>
              </a:lnSpc>
            </a:pPr>
            <a:r>
              <a:rPr lang="en-US" sz="6750" spc="-40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Introduction to</a:t>
            </a:r>
            <a:br>
              <a:rPr lang="en-US" sz="6750" spc="-40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6750" spc="-40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0" y="4058915"/>
            <a:ext cx="5553075" cy="7200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835"/>
              </a:lnSpc>
              <a:spcBef>
                <a:spcPts val="1010"/>
              </a:spcBef>
            </a:pPr>
            <a:r>
              <a:rPr lang="en-US" sz="2025" spc="-41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Vaishnavi Singh [RA2311003030580]</a:t>
            </a:r>
            <a:br>
              <a:rPr lang="en-US" sz="2025" spc="-41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2025" spc="-41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CSE Core- I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data mining concepts diagram">    </p:cNvPr>
          <p:cNvPicPr>
            <a:picLocks noChangeAspect="1"/>
          </p:cNvPicPr>
          <p:nvPr/>
        </p:nvPicPr>
        <p:blipFill>
          <a:blip r:embed="rId1"/>
          <a:srcRect l="17448" r="17448" t="0" b="0"/>
          <a:stretch/>
        </p:blipFill>
        <p:spPr>
          <a:xfrm>
            <a:off x="0" y="0"/>
            <a:ext cx="5715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What is Data Mining?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88219" y="1581150"/>
            <a:ext cx="1428750" cy="1428750"/>
          </a:xfrm>
          <a:prstGeom prst="ellipse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452" y="1876943"/>
            <a:ext cx="504825" cy="8477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156" y="3098676"/>
            <a:ext cx="2428875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Extraction of useful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information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5762" y="3705895"/>
            <a:ext cx="2553664" cy="1333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is the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process of uncovering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valuable insights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patterns from large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datasets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917156" y="1581150"/>
            <a:ext cx="1428750" cy="1428750"/>
          </a:xfrm>
          <a:prstGeom prst="ellipse">
            <a:avLst/>
          </a:prstGeom>
          <a:noFill/>
          <a:ln w="50800">
            <a:solidFill>
              <a:srgbClr val="2D8EB4"/>
            </a:solidFill>
            <a:prstDash val="solid"/>
            <a:miter lim="800000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036" y="1977406"/>
            <a:ext cx="657225" cy="638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4706" y="3098676"/>
            <a:ext cx="253365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Analyzing complex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datasets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294205" y="3705895"/>
            <a:ext cx="2674652" cy="1600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techniques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are used to make sense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of the ever-growing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volumes of data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generated by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organizations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846094" y="1581150"/>
            <a:ext cx="1428750" cy="1428750"/>
          </a:xfrm>
          <a:prstGeom prst="ellipse">
            <a:avLst/>
          </a:prstGeom>
          <a:noFill/>
          <a:ln w="50800">
            <a:solidFill>
              <a:srgbClr val="5A7DC5"/>
            </a:solidFill>
            <a:prstDash val="solid"/>
            <a:miter lim="800000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453" y="1943921"/>
            <a:ext cx="590550" cy="7143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88210" y="3098676"/>
            <a:ext cx="2544517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Discovering hidden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trends and relationships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283637" y="3705895"/>
            <a:ext cx="2553664" cy="1333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helps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identify previously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unknown correlations,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patterns, and trends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within data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9775031" y="1581150"/>
            <a:ext cx="1428750" cy="1428750"/>
          </a:xfrm>
          <a:prstGeom prst="ellipse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148" y="1952292"/>
            <a:ext cx="552450" cy="6762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32119" y="3098676"/>
            <a:ext cx="2314575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Informed decision-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making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9273502" y="3705895"/>
            <a:ext cx="2431808" cy="1600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insights gained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from data mining can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help organizations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make data-driven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decisions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strategic choices</a:t>
            </a: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6082E6"/>
          </a:solidFill>
          <a:ln>
            <a:miter lim="800000"/>
          </a:ln>
        </p:spPr>
      </p:sp>
      <p:sp>
        <p:nvSpPr>
          <p:cNvPr id="20" name="Text 14"/>
          <p:cNvSpPr/>
          <p:nvPr/>
        </p:nvSpPr>
        <p:spPr>
          <a:xfrm>
            <a:off x="428625" y="5952158"/>
            <a:ext cx="11334750" cy="65469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578"/>
              </a:lnSpc>
            </a:pPr>
            <a:r>
              <a:rPr lang="en-US" sz="2250" spc="-13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As data continues to grow exponentially, data mining offers powerful techniques to unlock</a:t>
            </a:r>
            <a:br>
              <a:rPr lang="en-US" sz="2250" spc="-13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the full potential of data and drive informed decision-making across various industries.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 vs. Data Analytics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024384"/>
            <a:ext cx="11715750" cy="3333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625"/>
              </a:lnSpc>
              <a:spcBef>
                <a:spcPts val="890"/>
              </a:spcBef>
            </a:pPr>
            <a:r>
              <a:rPr lang="en-US" sz="1875" spc="-38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Comparing the focus, techniques, and outcomes of data mining and data analytics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478405"/>
            <a:ext cx="2019300" cy="2903220"/>
          </a:xfrm>
          <a:prstGeom prst="rect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428625" y="5518026"/>
            <a:ext cx="211455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Backward-looking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Analysis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9650" y="3701713"/>
            <a:ext cx="952500" cy="436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37"/>
              </a:lnSpc>
            </a:pPr>
            <a:r>
              <a:rPr lang="en-US" sz="3000" spc="-18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80%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81300" y="2841307"/>
            <a:ext cx="2019300" cy="2540318"/>
          </a:xfrm>
          <a:prstGeom prst="rect">
            <a:avLst/>
          </a:prstGeom>
          <a:noFill/>
          <a:ln w="50800">
            <a:solidFill>
              <a:srgbClr val="2292AF"/>
            </a:solidFill>
            <a:prstDash val="solid"/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2733675" y="5518026"/>
            <a:ext cx="211455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Forward-looking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Prediction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3750" y="3883164"/>
            <a:ext cx="914400" cy="436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37"/>
              </a:lnSpc>
            </a:pPr>
            <a:r>
              <a:rPr lang="en-US" sz="3000" spc="-18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70%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086350" y="3567113"/>
            <a:ext cx="2019300" cy="1814513"/>
          </a:xfrm>
          <a:prstGeom prst="rect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</p:sp>
      <p:sp>
        <p:nvSpPr>
          <p:cNvPr id="11" name="Text 9"/>
          <p:cNvSpPr/>
          <p:nvPr/>
        </p:nvSpPr>
        <p:spPr>
          <a:xfrm>
            <a:off x="5038725" y="5518026"/>
            <a:ext cx="211455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Automation Level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29275" y="4246066"/>
            <a:ext cx="933450" cy="436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37"/>
              </a:lnSpc>
            </a:pPr>
            <a:r>
              <a:rPr lang="en-US" sz="3000" spc="-18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50%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91400" y="2659856"/>
            <a:ext cx="2019300" cy="2721769"/>
          </a:xfrm>
          <a:prstGeom prst="rect">
            <a:avLst/>
          </a:prstGeom>
          <a:noFill/>
          <a:ln w="50800">
            <a:solidFill>
              <a:srgbClr val="6579CA"/>
            </a:solidFill>
            <a:prstDash val="solid"/>
            <a:miter lim="800000"/>
          </a:ln>
        </p:spPr>
      </p:sp>
      <p:sp>
        <p:nvSpPr>
          <p:cNvPr id="14" name="Text 12"/>
          <p:cNvSpPr/>
          <p:nvPr/>
        </p:nvSpPr>
        <p:spPr>
          <a:xfrm>
            <a:off x="7343775" y="5518026"/>
            <a:ext cx="211455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Actionability of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Insights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962900" y="3792438"/>
            <a:ext cx="876300" cy="436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37"/>
              </a:lnSpc>
            </a:pPr>
            <a:r>
              <a:rPr lang="en-US" sz="3000" spc="-18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75%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696450" y="3204211"/>
            <a:ext cx="2019300" cy="2177414"/>
          </a:xfrm>
          <a:prstGeom prst="rect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</p:sp>
      <p:sp>
        <p:nvSpPr>
          <p:cNvPr id="17" name="Text 15"/>
          <p:cNvSpPr/>
          <p:nvPr/>
        </p:nvSpPr>
        <p:spPr>
          <a:xfrm>
            <a:off x="9648825" y="5518026"/>
            <a:ext cx="211455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Breadth of Data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Sources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234613" y="4064615"/>
            <a:ext cx="942975" cy="436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3437"/>
              </a:lnSpc>
            </a:pPr>
            <a:r>
              <a:rPr lang="en-US" sz="3000" spc="-180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60%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 vs. Machine Learning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1581150"/>
            <a:ext cx="11239500" cy="440055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581150"/>
            <a:ext cx="11249025" cy="441007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581150"/>
            <a:ext cx="11239500" cy="44005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6250" y="1581150"/>
            <a:ext cx="3746500" cy="42586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Characteristic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222750" y="1581150"/>
            <a:ext cx="3746500" cy="42586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969250" y="1581150"/>
            <a:ext cx="3746500" cy="425860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Machine Learning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6250" y="2007010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Origin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222750" y="2007010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Traditional databases with unstructured data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969250" y="2007010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It has an existing algorithm and data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250" y="2574823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Meaning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222750" y="2574823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Extracting information from a huge amount of data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969250" y="2574823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Introduce new Information from data as well as previous experience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3142635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History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222750" y="3142635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 1930, it was known as knowledge discovery in databases (KDD)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969250" y="3142635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first program, i.e., Samuel's checker playing program, was established in 1950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6250" y="3710448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Responsibility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222750" y="3710448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is used to obtain the rules from the existing data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969250" y="3710448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Machine learning teaches the computer, how to learn and comprehend the rules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6250" y="4278261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Abstraction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222750" y="4278261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abstract from the data warehouse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969250" y="4278261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Machine learning reads machine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76250" y="4846074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Applications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222750" y="4846074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 compare to machine learning, data mining can produce outcomes on the lesser volume of data. It is also used in cluster analysis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969250" y="4846074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It needs a large amount of data to obtain accurate results. It has various applications, used in web search, spam filter, credit scoring, computer design, etc.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76250" y="5413887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Nature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222750" y="5413887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It involves human interference more towards the manual</a:t>
            </a: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969250" y="5413887"/>
            <a:ext cx="3746500" cy="567813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rgbClr val="333333"/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It is automated, once designed and implemented; there is no need for human effort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81000" y="6121971"/>
            <a:ext cx="11334750" cy="2133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r">
              <a:lnSpc>
                <a:spcPts val="1680"/>
              </a:lnSpc>
            </a:pPr>
            <a:r>
              <a:rPr lang="en-US" sz="1200" spc="-24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*Adapted from the provided context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000000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The KDD Process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33650"/>
            <a:ext cx="2990850" cy="1228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125" y="3008188"/>
            <a:ext cx="238125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Cleaning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2000" y="1711747"/>
            <a:ext cx="2381250" cy="6932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Removing noisy, inconsistent,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irrelevant data from the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collection to improve data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quality.</a:t>
            </a:r>
            <a:endParaRPr lang="en-US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2533650"/>
            <a:ext cx="2990850" cy="1228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67125" y="3008188"/>
            <a:ext cx="209550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Integration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524250" y="1711747"/>
            <a:ext cx="2381250" cy="6932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Combining heterogeneous data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from multiple sources into a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common data source or data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warehouse.</a:t>
            </a: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2533650"/>
            <a:ext cx="2990850" cy="1228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9375" y="3008188"/>
            <a:ext cx="209550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Selection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286500" y="1711747"/>
            <a:ext cx="2383187" cy="6932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Identifying and retrieving the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relevant data from the data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collection for the data mining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process.</a:t>
            </a:r>
            <a:endParaRPr lang="en-US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2533650"/>
            <a:ext cx="2990850" cy="1228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5635" y="3008188"/>
            <a:ext cx="218748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Transformation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9048750" y="1540297"/>
            <a:ext cx="2383187" cy="8665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Transforming the data into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appropriate forms suitable for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mining, including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normalization, attribute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selection, and discretization.</a:t>
            </a:r>
            <a:endParaRPr lang="en-US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325" y="3819525"/>
            <a:ext cx="2990850" cy="12287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86000" y="4294063"/>
            <a:ext cx="209550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2143125" y="5178847"/>
            <a:ext cx="2383187" cy="6932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Applying intelligent methods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algorithms to extract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patterns, trends, and insights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from the prepared data.</a:t>
            </a:r>
            <a:endParaRPr lang="en-US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575" y="3819525"/>
            <a:ext cx="2990850" cy="12287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48250" y="4294063"/>
            <a:ext cx="209550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Pattern Evaluation</a:t>
            </a: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4905375" y="5178847"/>
            <a:ext cx="2381250" cy="6932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Evaluating the discovered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patterns to identify the most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interesting and useful ones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based on defined measures.</a:t>
            </a:r>
            <a:endParaRPr lang="en-US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2825" y="3819525"/>
            <a:ext cx="2990850" cy="1228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810500" y="4165476"/>
            <a:ext cx="2095500" cy="52372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Knowledge</a:t>
            </a:r>
            <a:b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Representation</a:t>
            </a:r>
            <a:endParaRPr lang="en-US" dirty="0"/>
          </a:p>
        </p:txBody>
      </p:sp>
      <p:sp>
        <p:nvSpPr>
          <p:cNvPr id="23" name="Text 14"/>
          <p:cNvSpPr/>
          <p:nvPr/>
        </p:nvSpPr>
        <p:spPr>
          <a:xfrm>
            <a:off x="7667625" y="5178847"/>
            <a:ext cx="2381250" cy="86655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365"/>
              </a:lnSpc>
            </a:pP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Presenting the discovered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knowledge in a way that is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understandable and useful for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end-users, often using</a:t>
            </a:r>
            <a:b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975" spc="-2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visualization tools.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1581150"/>
            <a:ext cx="3619500" cy="2114550"/>
          </a:xfrm>
          <a:prstGeom prst="rect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</p:sp>
      <p:sp>
        <p:nvSpPr>
          <p:cNvPr id="4" name="Text 2"/>
          <p:cNvSpPr/>
          <p:nvPr/>
        </p:nvSpPr>
        <p:spPr>
          <a:xfrm>
            <a:off x="762000" y="1813247"/>
            <a:ext cx="3238500" cy="2596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Source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174156"/>
            <a:ext cx="3311430" cy="933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38"/>
              </a:lnSpc>
              <a:spcBef>
                <a:spcPts val="782"/>
              </a:spcBef>
            </a:pP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actual source of data, such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as databases, data warehouses,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World Wide Web, and other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documents.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86250" y="1581150"/>
            <a:ext cx="3619500" cy="2114550"/>
          </a:xfrm>
          <a:prstGeom prst="rect">
            <a:avLst/>
          </a:prstGeom>
          <a:noFill/>
          <a:ln w="50800">
            <a:solidFill>
              <a:srgbClr val="1B95AD"/>
            </a:solidFill>
            <a:prstDash val="solid"/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4572000" y="1813247"/>
            <a:ext cx="3238500" cy="2596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Preprocessing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2174156"/>
            <a:ext cx="3408089" cy="7000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38"/>
              </a:lnSpc>
              <a:spcBef>
                <a:spcPts val="782"/>
              </a:spcBef>
            </a:pP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cleaning, integration,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selection, and transformation to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prepare the data for mining.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096250" y="1581150"/>
            <a:ext cx="3619500" cy="2114550"/>
          </a:xfrm>
          <a:prstGeom prst="rect">
            <a:avLst/>
          </a:prstGeom>
          <a:noFill/>
          <a:ln w="50800">
            <a:solidFill>
              <a:srgbClr val="368BB7"/>
            </a:solidFill>
            <a:prstDash val="solid"/>
            <a:miter lim="800000"/>
          </a:ln>
        </p:spPr>
      </p:sp>
      <p:sp>
        <p:nvSpPr>
          <p:cNvPr id="10" name="Text 8"/>
          <p:cNvSpPr/>
          <p:nvPr/>
        </p:nvSpPr>
        <p:spPr>
          <a:xfrm>
            <a:off x="8382000" y="1813247"/>
            <a:ext cx="3238500" cy="5192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Database or Data Warehouse</a:t>
            </a:r>
            <a:b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Server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2000" y="2433786"/>
            <a:ext cx="3238500" cy="933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38"/>
              </a:lnSpc>
              <a:spcBef>
                <a:spcPts val="782"/>
              </a:spcBef>
            </a:pP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server that stores the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cleaned and integrated data,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ready to be processed by the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engine.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3886200"/>
            <a:ext cx="3619500" cy="2114550"/>
          </a:xfrm>
          <a:prstGeom prst="rect">
            <a:avLst/>
          </a:prstGeom>
          <a:noFill/>
          <a:ln w="50800">
            <a:solidFill>
              <a:srgbClr val="5180C2"/>
            </a:solidFill>
            <a:prstDash val="solid"/>
            <a:miter lim="800000"/>
          </a:ln>
        </p:spPr>
      </p:sp>
      <p:sp>
        <p:nvSpPr>
          <p:cNvPr id="13" name="Text 11"/>
          <p:cNvSpPr/>
          <p:nvPr/>
        </p:nvSpPr>
        <p:spPr>
          <a:xfrm>
            <a:off x="762000" y="4118297"/>
            <a:ext cx="3238500" cy="2596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 Engine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4479206"/>
            <a:ext cx="3408089" cy="116681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38"/>
              </a:lnSpc>
              <a:spcBef>
                <a:spcPts val="782"/>
              </a:spcBef>
            </a:pP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core component that contains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various modules for performing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tasks, such as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association, classification,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clustering, and prediction.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86250" y="3886200"/>
            <a:ext cx="3619500" cy="2114550"/>
          </a:xfrm>
          <a:prstGeom prst="rect">
            <a:avLst/>
          </a:prstGeom>
          <a:noFill/>
          <a:ln w="50800">
            <a:solidFill>
              <a:srgbClr val="6C76CC"/>
            </a:solidFill>
            <a:prstDash val="solid"/>
            <a:miter lim="800000"/>
          </a:ln>
        </p:spPr>
      </p:sp>
      <p:sp>
        <p:nvSpPr>
          <p:cNvPr id="16" name="Text 14"/>
          <p:cNvSpPr/>
          <p:nvPr/>
        </p:nvSpPr>
        <p:spPr>
          <a:xfrm>
            <a:off x="4572000" y="4118297"/>
            <a:ext cx="3238500" cy="2596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Pattern Evaluation Module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0" y="4479206"/>
            <a:ext cx="3311430" cy="9334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38"/>
              </a:lnSpc>
              <a:spcBef>
                <a:spcPts val="782"/>
              </a:spcBef>
            </a:pP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Responsible for measuring the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interestingness of patterns and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focusing the search on exciting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patterns.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096250" y="3886200"/>
            <a:ext cx="3619500" cy="2114550"/>
          </a:xfrm>
          <a:prstGeom prst="rect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</p:sp>
      <p:sp>
        <p:nvSpPr>
          <p:cNvPr id="19" name="Text 17"/>
          <p:cNvSpPr/>
          <p:nvPr/>
        </p:nvSpPr>
        <p:spPr>
          <a:xfrm>
            <a:off x="8382000" y="4118297"/>
            <a:ext cx="3238500" cy="2596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2045"/>
              </a:lnSpc>
            </a:pPr>
            <a:r>
              <a:rPr lang="en-US" sz="1785" spc="-107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Graphical User Interface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82000" y="4479206"/>
            <a:ext cx="3238500" cy="7000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38"/>
              </a:lnSpc>
              <a:spcBef>
                <a:spcPts val="782"/>
              </a:spcBef>
            </a:pP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Enables user interaction with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data mining system and</a:t>
            </a:r>
            <a:b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313" spc="-26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displays the results.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Types of Data for Mining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1540594"/>
            <a:ext cx="5260181" cy="449914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547"/>
              </a:lnSpc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Flat Files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files in text or binary form with a simple structure that can be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easily extracted by data mining algorithms. Flat files have no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relationships or paths between the data elements, like a relational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 stored on a flat file.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Relational Databases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Collections of multiple data sets organized into tables, records, and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columns, allowing data to be accessed in various ways without needing to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know the database structure. Relational databases use SQL as the standard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API for data access and manipulation.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Warehouses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Technologies that collect data from various sources within an organization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to provide meaningful business insights. Data warehouses are designed for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analysis rather than transaction processing, and can be enterprise-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wide, departmental (data marts), or virtual.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Object-Relational Databases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 combination of object-oriented and relational database models, supporting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features like classes, objects, and inheritance, bridging the gap between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programming language practices and relational database structures.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Transactional Databases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Databases that have the capability to undo a transaction if it is not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performed correctly, following the ACID (Atomicity, Consistency, Isolation,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Durability) properties of database management systems.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0" y="1540594"/>
            <a:ext cx="5260181" cy="320002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547"/>
              </a:lnSpc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Multimedia Databases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Databases that store complex information in pre-specified formats,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including audio, video, images, and text media, often stored on object-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oriented databases.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Spatial Databases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Databases that store geographical information like maps, and global or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regional positioning data, in the form of coordinates, topology, lines, and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polygons.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Time-series Databases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Databases that contain time-related data, such as stock market data or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logged activities, which often require real-time analysis to study trends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correlations between variables over time.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World Wide Web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most heterogeneous data repository, collecting data from multiple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sources in the form of documents, resources, audio, video, and text,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accessible through web browsers and the internet network.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Applications of Data Mining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1581150"/>
            <a:ext cx="3619500" cy="2933700"/>
          </a:xfrm>
          <a:prstGeom prst="rect">
            <a:avLst/>
          </a:prstGeom>
          <a:solidFill>
            <a:srgbClr val="01A0C8"/>
          </a:solidFill>
          <a:ln>
            <a:miter lim="800000"/>
          </a:ln>
        </p:spPr>
      </p:sp>
      <p:pic>
        <p:nvPicPr>
          <p:cNvPr id="4" name="Image 0" descr="healthcare data analysis, center view">    </p:cNvPr>
          <p:cNvPicPr>
            <a:picLocks noChangeAspect="1"/>
          </p:cNvPicPr>
          <p:nvPr/>
        </p:nvPicPr>
        <p:blipFill>
          <a:blip r:embed="rId1"/>
          <a:srcRect l="3734" r="3734" t="0" b="0"/>
          <a:stretch/>
        </p:blipFill>
        <p:spPr>
          <a:xfrm>
            <a:off x="476250" y="1581150"/>
            <a:ext cx="3619500" cy="2933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625" y="4651251"/>
            <a:ext cx="371475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Healthcare Analytics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37173" y="4996607"/>
            <a:ext cx="3897653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 techniques used to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predict disease outbreaks,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identify high-risk patients,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optimize treatment plans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286250" y="1581150"/>
            <a:ext cx="3619500" cy="2933700"/>
          </a:xfrm>
          <a:prstGeom prst="rect">
            <a:avLst/>
          </a:prstGeom>
          <a:solidFill>
            <a:srgbClr val="01A0C8"/>
          </a:solidFill>
          <a:ln>
            <a:miter lim="800000"/>
          </a:ln>
        </p:spPr>
      </p:sp>
      <p:pic>
        <p:nvPicPr>
          <p:cNvPr id="8" name="Image 1" descr="retail customer service, center view">    </p:cNvPr>
          <p:cNvPicPr>
            <a:picLocks noChangeAspect="1"/>
          </p:cNvPicPr>
          <p:nvPr/>
        </p:nvPicPr>
        <p:blipFill>
          <a:blip r:embed="rId2"/>
          <a:srcRect l="15300" r="15300" t="0" b="0"/>
          <a:stretch/>
        </p:blipFill>
        <p:spPr>
          <a:xfrm>
            <a:off x="4286250" y="1581150"/>
            <a:ext cx="3619500" cy="29337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38625" y="4651251"/>
            <a:ext cx="371475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Retail Personalization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147173" y="4996607"/>
            <a:ext cx="3897653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Applying data mining to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understand customer preferences,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target marketing campaigns, and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optimize product placement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8096250" y="1581150"/>
            <a:ext cx="3619500" cy="2933700"/>
          </a:xfrm>
          <a:prstGeom prst="rect">
            <a:avLst/>
          </a:prstGeom>
          <a:solidFill>
            <a:srgbClr val="01A0C8"/>
          </a:solidFill>
          <a:ln>
            <a:miter lim="800000"/>
          </a:ln>
        </p:spPr>
      </p:sp>
      <p:pic>
        <p:nvPicPr>
          <p:cNvPr id="12" name="Image 2" descr="financial fraud detection data analysis, center view">    </p:cNvPr>
          <p:cNvPicPr>
            <a:picLocks noChangeAspect="1"/>
          </p:cNvPicPr>
          <p:nvPr/>
        </p:nvPicPr>
        <p:blipFill>
          <a:blip r:embed="rId3"/>
          <a:srcRect l="8339" r="8339" t="0" b="0"/>
          <a:stretch/>
        </p:blipFill>
        <p:spPr>
          <a:xfrm>
            <a:off x="8096250" y="1581150"/>
            <a:ext cx="3619500" cy="2933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8625" y="4651251"/>
            <a:ext cx="3714750" cy="2618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62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Financial Fraud Detection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957173" y="4996607"/>
            <a:ext cx="3897653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  <a:spcBef>
                <a:spcPts val="645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Using data mining to identify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suspicious transactions, prevent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credit card fraud, and monitor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investment portfolio risks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Mining Functionalities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1762497"/>
            <a:ext cx="5120434" cy="40517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165"/>
              </a:lnSpc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Characterization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Summarizes general features of objects in a target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class and produces characteristic rules</a:t>
            </a:r>
            <a:endParaRPr lang="en-US" dirty="0"/>
          </a:p>
          <a:p>
            <a:pPr algn="l" marL="241300" indent="-241300">
              <a:lnSpc>
                <a:spcPts val="2165"/>
              </a:lnSpc>
              <a:spcBef>
                <a:spcPts val="1696"/>
              </a:spcBef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Discrimination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Compares the general features of a target class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against contrasting classes to produce discriminant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rules</a:t>
            </a:r>
            <a:endParaRPr lang="en-US" dirty="0"/>
          </a:p>
          <a:p>
            <a:pPr algn="l" marL="241300" indent="-241300">
              <a:lnSpc>
                <a:spcPts val="2165"/>
              </a:lnSpc>
              <a:spcBef>
                <a:spcPts val="1696"/>
              </a:spcBef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Association Analysis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Discovers association rules that represent the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frequency of items occurring together in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transactional data</a:t>
            </a:r>
            <a:endParaRPr lang="en-US" dirty="0"/>
          </a:p>
          <a:p>
            <a:pPr algn="l" marL="241300" indent="-241300">
              <a:lnSpc>
                <a:spcPts val="2165"/>
              </a:lnSpc>
              <a:spcBef>
                <a:spcPts val="1696"/>
              </a:spcBef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Classification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Identifies a model that distinguishes data classes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concepts based on a training set of labeled data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0" y="1762497"/>
            <a:ext cx="5048250" cy="362240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2165"/>
              </a:lnSpc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Prediction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Forecasts missing values, trends, or class labels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based on patterns in the data</a:t>
            </a:r>
            <a:endParaRPr lang="en-US" dirty="0"/>
          </a:p>
          <a:p>
            <a:pPr algn="l" marL="241300" indent="-241300">
              <a:lnSpc>
                <a:spcPts val="2165"/>
              </a:lnSpc>
              <a:spcBef>
                <a:spcPts val="1696"/>
              </a:spcBef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Clustering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Groups similar data objects into clusters based on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their characteristics, without predefined classes</a:t>
            </a:r>
            <a:endParaRPr lang="en-US" dirty="0"/>
          </a:p>
          <a:p>
            <a:pPr algn="l" marL="241300" indent="-241300">
              <a:lnSpc>
                <a:spcPts val="2165"/>
              </a:lnSpc>
              <a:spcBef>
                <a:spcPts val="1696"/>
              </a:spcBef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Outlier Analysis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Identifies anomalous data elements that cannot be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grouped into the given classes or clusters</a:t>
            </a:r>
            <a:endParaRPr lang="en-US" dirty="0"/>
          </a:p>
          <a:p>
            <a:pPr algn="l" marL="241300" indent="-241300">
              <a:lnSpc>
                <a:spcPts val="2165"/>
              </a:lnSpc>
              <a:spcBef>
                <a:spcPts val="1696"/>
              </a:spcBef>
              <a:buSzPct val="100000"/>
              <a:buChar char="•"/>
            </a:pPr>
            <a:r>
              <a:rPr lang="en-US" sz="1890" spc="-113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Evolution and Deviation Analysis</a:t>
            </a:r>
            <a:endParaRPr lang="en-US" dirty="0"/>
          </a:p>
          <a:p>
            <a:pPr algn="l" lvl="1" marL="241300" indent="0">
              <a:lnSpc>
                <a:spcPts val="1691"/>
              </a:lnSpc>
              <a:spcBef>
                <a:spcPts val="281"/>
              </a:spcBef>
              <a:buNone/>
            </a:pP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Studies how data changes over time and identifies</a:t>
            </a:r>
            <a:b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208" spc="-24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deviations from expected values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01475" y="6501408"/>
            <a:ext cx="200025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Challenges in Data Mining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" y="1847850"/>
            <a:ext cx="10610850" cy="9334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1365600"/>
            <a:ext cx="1181100" cy="13239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33500" y="2202284"/>
            <a:ext cx="9715500" cy="2094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650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Handling Incomplete and Noisy Data</a:t>
            </a: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833688"/>
            <a:ext cx="5781675" cy="9334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050" y="2662713"/>
            <a:ext cx="1181100" cy="10096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333500" y="3188122"/>
            <a:ext cx="4876874" cy="2094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650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Addressing Data Distribution and Scalability</a:t>
            </a:r>
            <a:endParaRPr lang="en-US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3819525"/>
            <a:ext cx="8191500" cy="93345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050" y="3914775"/>
            <a:ext cx="1181100" cy="100965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333500" y="4173959"/>
            <a:ext cx="7296150" cy="2094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650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Ensuring Data Privacy and Security</a:t>
            </a:r>
            <a:endParaRPr lang="en-US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0" y="4805363"/>
            <a:ext cx="3362325" cy="9334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9050" y="4900613"/>
            <a:ext cx="1181100" cy="132397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333500" y="5055022"/>
            <a:ext cx="2457524" cy="41895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650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Improving Data Visualization</a:t>
            </a:r>
            <a:br>
              <a:rPr lang="en-US" sz="1440" spc="-86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1440" spc="-86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and Interpretation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6700" y="6501408"/>
            <a:ext cx="304800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3709035" cy="5905500"/>
          </a:xfrm>
          <a:prstGeom prst="rect">
            <a:avLst/>
          </a:prstGeom>
          <a:solidFill>
            <a:srgbClr val="009FA2"/>
          </a:solidFill>
          <a:ln>
            <a:miter lim="800000"/>
          </a:ln>
        </p:spPr>
      </p:sp>
      <p:pic>
        <p:nvPicPr>
          <p:cNvPr id="3" name="Image 0" descr="data preprocessing workflow">    </p:cNvPr>
          <p:cNvPicPr>
            <a:picLocks noChangeAspect="1"/>
          </p:cNvPicPr>
          <p:nvPr/>
        </p:nvPicPr>
        <p:blipFill>
          <a:blip r:embed="rId1"/>
          <a:srcRect l="21323" r="21323" t="0" b="0"/>
          <a:stretch/>
        </p:blipFill>
        <p:spPr>
          <a:xfrm>
            <a:off x="476250" y="476250"/>
            <a:ext cx="3709035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3014" y="1525563"/>
            <a:ext cx="4371256" cy="109105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296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Preprocessing</a:t>
            </a:r>
            <a:br>
              <a:rPr lang="en-US" sz="3750" spc="-2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and Data Quality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497705" y="2735089"/>
            <a:ext cx="7381875" cy="25598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520"/>
              </a:lnSpc>
              <a:spcBef>
                <a:spcPts val="914"/>
              </a:spcBef>
            </a:pP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Effective data mining relies heavily on the quality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preprocessing of the underlying data. Data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preprocessing is a crucial step that transforms raw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into a format suitable for analysis, addressing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issues such as missing values, noise, and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inconsistencies. By ensuring high-quality data,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organizations can extract meaningful insights and</a:t>
            </a:r>
            <a:b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800" spc="-36" kern="0" dirty="0">
                <a:solidFill>
                  <a:srgbClr val="000000">
                    <a:alpha val="65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make informed decisions with confidence.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Integration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1581150"/>
            <a:ext cx="3619500" cy="2114550"/>
          </a:xfrm>
          <a:prstGeom prst="rect">
            <a:avLst/>
          </a:prstGeom>
          <a:noFill/>
          <a:ln w="50800">
            <a:solidFill>
              <a:srgbClr val="009FA2"/>
            </a:solidFill>
            <a:prstDash val="solid"/>
            <a:miter lim="800000"/>
          </a:ln>
        </p:spPr>
      </p:sp>
      <p:sp>
        <p:nvSpPr>
          <p:cNvPr id="4" name="Text 2"/>
          <p:cNvSpPr/>
          <p:nvPr/>
        </p:nvSpPr>
        <p:spPr>
          <a:xfrm>
            <a:off x="762000" y="1824782"/>
            <a:ext cx="3257030" cy="2040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07"/>
              </a:lnSpc>
            </a:pPr>
            <a:r>
              <a:rPr lang="en-US" sz="1402" spc="-84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Combining Data from Multiple Sources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108374"/>
            <a:ext cx="3428782" cy="7334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4"/>
              </a:lnSpc>
              <a:spcBef>
                <a:spcPts val="614"/>
              </a:spcBef>
            </a:pP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integration involves merging data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from heterogeneous sources, such as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databases, flat files, and data cubes, to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create a unified view of the data.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286250" y="1581150"/>
            <a:ext cx="3619500" cy="2114550"/>
          </a:xfrm>
          <a:prstGeom prst="rect">
            <a:avLst/>
          </a:prstGeom>
          <a:noFill/>
          <a:ln w="50800">
            <a:solidFill>
              <a:srgbClr val="2292AF"/>
            </a:solidFill>
            <a:prstDash val="solid"/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4572000" y="1824782"/>
            <a:ext cx="3238500" cy="2040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07"/>
              </a:lnSpc>
            </a:pPr>
            <a:r>
              <a:rPr lang="en-US" sz="1402" spc="-84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Resolving Entity Identification Issues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2108374"/>
            <a:ext cx="3428782" cy="91678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4"/>
              </a:lnSpc>
              <a:spcBef>
                <a:spcPts val="614"/>
              </a:spcBef>
            </a:pP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When integrating data, it is crucial to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match real-world entities from different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sources, even if they have different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identifiers (e.g., customer_id vs.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customer_number).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096250" y="1581150"/>
            <a:ext cx="3619500" cy="2114550"/>
          </a:xfrm>
          <a:prstGeom prst="rect">
            <a:avLst/>
          </a:prstGeom>
          <a:noFill/>
          <a:ln w="50800">
            <a:solidFill>
              <a:srgbClr val="4486BD"/>
            </a:solidFill>
            <a:prstDash val="solid"/>
            <a:miter lim="800000"/>
          </a:ln>
        </p:spPr>
      </p:sp>
      <p:sp>
        <p:nvSpPr>
          <p:cNvPr id="10" name="Text 8"/>
          <p:cNvSpPr/>
          <p:nvPr/>
        </p:nvSpPr>
        <p:spPr>
          <a:xfrm>
            <a:off x="8382000" y="1824782"/>
            <a:ext cx="3238500" cy="2040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07"/>
              </a:lnSpc>
            </a:pPr>
            <a:r>
              <a:rPr lang="en-US" sz="1402" spc="-84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Addressing Data Conflicts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2000" y="2108374"/>
            <a:ext cx="3428782" cy="11001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4"/>
              </a:lnSpc>
              <a:spcBef>
                <a:spcPts val="614"/>
              </a:spcBef>
            </a:pP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integration must resolve conflicts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where the same entity has different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attribute values across data sources,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such as a hotel room price represented in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different currencies or with different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services.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3886200"/>
            <a:ext cx="5524500" cy="2114550"/>
          </a:xfrm>
          <a:prstGeom prst="rect">
            <a:avLst/>
          </a:prstGeom>
          <a:noFill/>
          <a:ln w="50800">
            <a:solidFill>
              <a:srgbClr val="6579CA"/>
            </a:solidFill>
            <a:prstDash val="solid"/>
            <a:miter lim="800000"/>
          </a:ln>
        </p:spPr>
      </p:sp>
      <p:sp>
        <p:nvSpPr>
          <p:cNvPr id="13" name="Text 11"/>
          <p:cNvSpPr/>
          <p:nvPr/>
        </p:nvSpPr>
        <p:spPr>
          <a:xfrm>
            <a:off x="762000" y="4129832"/>
            <a:ext cx="5143500" cy="2040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07"/>
              </a:lnSpc>
            </a:pPr>
            <a:r>
              <a:rPr lang="en-US" sz="1402" spc="-84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Eliminating Redundancy and Inconsistencies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4413424"/>
            <a:ext cx="5442414" cy="5500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4"/>
              </a:lnSpc>
              <a:spcBef>
                <a:spcPts val="614"/>
              </a:spcBef>
            </a:pP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data integration process should identify and remove redundant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or inconsistent data, ensuring a clean and consistent dataset for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 mining.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91250" y="3886200"/>
            <a:ext cx="5524500" cy="2114550"/>
          </a:xfrm>
          <a:prstGeom prst="rect">
            <a:avLst/>
          </a:prstGeom>
          <a:noFill/>
          <a:ln w="50800">
            <a:solidFill>
              <a:srgbClr val="876CD7"/>
            </a:solidFill>
            <a:prstDash val="solid"/>
            <a:miter lim="800000"/>
          </a:ln>
        </p:spPr>
      </p:sp>
      <p:sp>
        <p:nvSpPr>
          <p:cNvPr id="16" name="Text 14"/>
          <p:cNvSpPr/>
          <p:nvPr/>
        </p:nvSpPr>
        <p:spPr>
          <a:xfrm>
            <a:off x="6477000" y="4129832"/>
            <a:ext cx="5143500" cy="2040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07"/>
              </a:lnSpc>
            </a:pPr>
            <a:r>
              <a:rPr lang="en-US" sz="1402" spc="-84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Improving Data Quality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7000" y="4413424"/>
            <a:ext cx="5290467" cy="5500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44"/>
              </a:lnSpc>
              <a:spcBef>
                <a:spcPts val="614"/>
              </a:spcBef>
            </a:pP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Effective data integration helps enhance the overall quality of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the data by addressing issues like missing values, data</a:t>
            </a:r>
            <a:b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1031" spc="-21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discrepancies, and structural differences across sources.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6700" y="6501408"/>
            <a:ext cx="304800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63513"/>
            <a:ext cx="11334750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Reduction Techniques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1692994"/>
            <a:ext cx="5260181" cy="41925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547"/>
              </a:lnSpc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Dimensionality Reduction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Reducing the number of attributes or features in a dataset to improve data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mining efficiency, including techniques like Wavelet Transform, Principal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Component Analysis (PCA), and Attribute Subset Selection.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Numerosity Reduction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Representing the data in a smaller form through parametric models like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regression or non-parametric methods like histograms, clustering, sampling,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and data cube aggregation.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Wavelet Transform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 lossy dimensionality reduction method that transforms the data into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wavelet coefficients, allowing the dataset to be compressed by retaining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only the most significant coefficients.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Principal Component Analysis (PCA)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An orthogonal linear transformation that identifies the principal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components (directions of maximum variance) in the data, allowing the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dataset to be projected onto a lower-dimensional space while retaining most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of the original information.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Attribute Subset Selection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Identifying and removing irrelevant or redundant attributes from the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dataset using statistical significance tests, greedy approaches like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forward selection and backward elimination, or decision tree induction.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0" y="1692994"/>
            <a:ext cx="5069614" cy="289344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 marL="241300" indent="-241300">
              <a:lnSpc>
                <a:spcPts val="1547"/>
              </a:lnSpc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Clustering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Grouping similar data points together, reducing the dataset to a smaller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number of representative cluster centroids.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Sampling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Selecting a representative subset of the data, such as simple random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sampling, stratified sampling, or cluster sampling, to reduce the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computational complexity of data mining.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Cube Aggregation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Representing the data at different levels of granularity using a multi-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dimensional data cube, allowing for more efficient aggregation and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summarization.</a:t>
            </a:r>
            <a:endParaRPr lang="en-US" dirty="0"/>
          </a:p>
          <a:p>
            <a:pPr algn="l" marL="241300" indent="-241300">
              <a:lnSpc>
                <a:spcPts val="1547"/>
              </a:lnSpc>
              <a:spcBef>
                <a:spcPts val="1211"/>
              </a:spcBef>
              <a:buSzPct val="100000"/>
              <a:buChar char="•"/>
            </a:pPr>
            <a:r>
              <a:rPr lang="en-US" sz="1350" spc="-81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Data Compression</a:t>
            </a:r>
            <a:endParaRPr lang="en-US" dirty="0"/>
          </a:p>
          <a:p>
            <a:pPr algn="l" lvl="1" marL="241300" indent="0">
              <a:lnSpc>
                <a:spcPts val="1207"/>
              </a:lnSpc>
              <a:spcBef>
                <a:spcPts val="201"/>
              </a:spcBef>
              <a:buNone/>
            </a:pP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Encoding the data in a more compact form, either losslessly or with some</a:t>
            </a:r>
            <a:b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</a:br>
            <a:r>
              <a:rPr lang="en-US" sz="863" spc="-17" kern="0" dirty="0">
                <a:solidFill>
                  <a:srgbClr val="FFFFFF">
                    <a:alpha val="80000"/>
                  </a:srgbClr>
                </a:solidFill>
                <a:latin typeface="DM Mono Regular" pitchFamily="34" charset="0"/>
                <a:ea typeface="DM Mono Regular" pitchFamily="34" charset="-122"/>
                <a:cs typeface="DM Mono Regular" pitchFamily="34" charset="-120"/>
              </a:rPr>
              <a:t>loss of information, to reduce the storage and processing requirements.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6700" y="6501408"/>
            <a:ext cx="304800" cy="23998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350">
                <a:solidFill>
                  <a:srgbClr val="FFFFFF"/>
                </a:solidFill>
                <a:latin typeface="DM Mono Regular"/>
                <a:ea typeface="DM Mono Regular"/>
                <a:cs typeface="DM Mono Regula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476250"/>
            <a:ext cx="5619750" cy="5905500"/>
          </a:xfrm>
          <a:prstGeom prst="rect">
            <a:avLst/>
          </a:prstGeom>
          <a:solidFill>
            <a:srgbClr val="009FA2"/>
          </a:solidFill>
          <a:ln>
            <a:miter lim="800000"/>
          </a:ln>
        </p:spPr>
      </p:sp>
      <p:pic>
        <p:nvPicPr>
          <p:cNvPr id="3" name="Image 0" descr="data mining techniques">    </p:cNvPr>
          <p:cNvPicPr>
            <a:picLocks noChangeAspect="1"/>
          </p:cNvPicPr>
          <p:nvPr/>
        </p:nvPicPr>
        <p:blipFill>
          <a:blip r:embed="rId1"/>
          <a:srcRect l="2419" r="2419" t="0" b="0"/>
          <a:stretch/>
        </p:blipFill>
        <p:spPr>
          <a:xfrm>
            <a:off x="6096000" y="476250"/>
            <a:ext cx="5619750" cy="5905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0513" y="1784970"/>
            <a:ext cx="5514975" cy="32734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2578"/>
              </a:lnSpc>
            </a:pP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As the volume of data continues to grow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exponentially, the field of data mining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offers powerful techniques to extract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valuable insights and drive informed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decision-making. By understanding the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key concepts, architectures, and diverse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applications of data mining, organizations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can unlock the full potential of their data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and stay ahead in the rapidly evolving</a:t>
            </a:r>
            <a:b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</a:br>
            <a:r>
              <a:rPr lang="en-US" sz="2250" spc="-135" kern="0" dirty="0">
                <a:solidFill>
                  <a:srgbClr val="333333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digital landscape.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3760" y="3144813"/>
            <a:ext cx="4984479" cy="54552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296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Thoughts? </a:t>
            </a:r>
            <a:pPr algn="ctr">
              <a:lnSpc>
                <a:spcPts val="4296"/>
              </a:lnSpc>
            </a:pPr>
            <a:r>
              <a:rPr lang="en-US" sz="3750" spc="-225" kern="0" dirty="0">
                <a:solidFill>
                  <a:srgbClr val="6082E6"/>
                </a:solidFill>
                <a:latin typeface="Satoshi Black" pitchFamily="34" charset="0"/>
                <a:ea typeface="Satoshi Black" pitchFamily="34" charset="-122"/>
                <a:cs typeface="Satoshi Black" pitchFamily="34" charset="-120"/>
              </a:rPr>
              <a:t>Questions?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9fa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Mining</dc:title>
  <dc:subject>Introduction to Data Mining</dc:subject>
  <dc:creator>DEVANSH SINGH (RA2311003030543)</dc:creator>
  <cp:lastModifiedBy>DEVANSH SINGH (RA2311003030543)</cp:lastModifiedBy>
  <cp:revision>1</cp:revision>
  <dcterms:created xsi:type="dcterms:W3CDTF">2026-01-29T09:15:27Z</dcterms:created>
  <dcterms:modified xsi:type="dcterms:W3CDTF">2026-01-29T09:15:27Z</dcterms:modified>
</cp:coreProperties>
</file>